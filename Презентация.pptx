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63DC5F-78CD-42BB-9B2A-913BFE265E3F}" v="355" dt="2026-05-26T02:28:09.3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561400" y="1828800"/>
            <a:ext cx="6021199" cy="1077218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>
              <a:defRPr sz="3200">
                <a:solidFill>
                  <a:srgbClr val="1E3A8A"/>
                </a:solidFill>
                <a:latin typeface="Arial Black"/>
              </a:defRPr>
            </a:pPr>
            <a:r>
              <a:rPr dirty="0"/>
              <a:t>Разработка </a:t>
            </a:r>
            <a:r>
              <a:rPr dirty="0" err="1"/>
              <a:t>сервиса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endParaRPr lang="ru-RU" dirty="0"/>
          </a:p>
          <a:p>
            <a:pPr algn="ctr">
              <a:defRPr sz="3200">
                <a:solidFill>
                  <a:srgbClr val="1E3A8A"/>
                </a:solidFill>
                <a:latin typeface="Arial Black"/>
              </a:defRPr>
            </a:pPr>
            <a:r>
              <a:rPr dirty="0" err="1"/>
              <a:t>учёта</a:t>
            </a:r>
            <a:r>
              <a:rPr dirty="0"/>
              <a:t> </a:t>
            </a:r>
            <a:r>
              <a:rPr dirty="0" err="1"/>
              <a:t>товара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складе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2313561" y="3200400"/>
            <a:ext cx="4516879" cy="120032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>
              <a:defRPr sz="18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Курсовая</a:t>
            </a:r>
            <a:r>
              <a:rPr dirty="0"/>
              <a:t> </a:t>
            </a:r>
            <a:r>
              <a:rPr dirty="0" err="1"/>
              <a:t>работа</a:t>
            </a:r>
            <a:br>
              <a:rPr dirty="0"/>
            </a:br>
            <a:r>
              <a:rPr dirty="0" err="1"/>
              <a:t>Выполнил</a:t>
            </a:r>
            <a:r>
              <a:rPr dirty="0"/>
              <a:t>: </a:t>
            </a:r>
            <a:r>
              <a:rPr dirty="0" err="1"/>
              <a:t>Савченко</a:t>
            </a:r>
            <a:r>
              <a:rPr dirty="0"/>
              <a:t> С.В., </a:t>
            </a:r>
            <a:r>
              <a:rPr lang="ru-RU" dirty="0"/>
              <a:t>ИСИП-42318 </a:t>
            </a:r>
            <a:br>
              <a:rPr dirty="0"/>
            </a:br>
            <a:r>
              <a:rPr dirty="0" err="1"/>
              <a:t>Руководитель</a:t>
            </a:r>
            <a:r>
              <a:rPr dirty="0"/>
              <a:t>: </a:t>
            </a:r>
            <a:r>
              <a:rPr dirty="0" err="1"/>
              <a:t>Денисюк</a:t>
            </a:r>
            <a:r>
              <a:t> А.В.</a:t>
            </a:r>
            <a:br>
              <a:rPr dirty="0"/>
            </a:br>
            <a:endParaRPr lang="ru-RU" dirty="0">
              <a:cs typeface="Arial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5029200"/>
            <a:ext cx="82296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E3A8A"/>
                </a:solidFill>
                <a:latin typeface="Arial Black"/>
              </a:defRPr>
            </a:pPr>
            <a:r>
              <a:t>Актуальность и 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00186" cy="304698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rPr dirty="0"/>
              <a:t>📊 Проблемы </a:t>
            </a:r>
            <a:r>
              <a:rPr dirty="0" err="1"/>
              <a:t>ручного</a:t>
            </a:r>
            <a:r>
              <a:rPr dirty="0"/>
              <a:t> </a:t>
            </a:r>
            <a:r>
              <a:rPr dirty="0" err="1"/>
              <a:t>учёта</a:t>
            </a:r>
            <a:r>
              <a:rPr dirty="0"/>
              <a:t>:</a:t>
            </a:r>
            <a:endParaRPr lang="ru-RU">
              <a:cs typeface="Arial"/>
            </a:endParaRPr>
          </a:p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Расхождения</a:t>
            </a:r>
            <a:r>
              <a:rPr dirty="0"/>
              <a:t> </a:t>
            </a:r>
            <a:r>
              <a:rPr dirty="0" err="1"/>
              <a:t>остатков</a:t>
            </a:r>
            <a:endParaRPr dirty="0">
              <a:cs typeface="Arial"/>
            </a:endParaRPr>
          </a:p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rPr dirty="0"/>
              <a:t>• Потери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инвентаризации</a:t>
            </a:r>
            <a:endParaRPr dirty="0">
              <a:cs typeface="Arial"/>
            </a:endParaRPr>
          </a:p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Неэффективные</a:t>
            </a:r>
            <a:r>
              <a:rPr dirty="0"/>
              <a:t> </a:t>
            </a:r>
            <a:r>
              <a:rPr dirty="0" err="1"/>
              <a:t>операции</a:t>
            </a:r>
            <a:endParaRPr dirty="0">
              <a:cs typeface="Arial"/>
            </a:endParaRPr>
          </a:p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endParaRPr dirty="0">
              <a:cs typeface="Arial"/>
            </a:endParaRP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rPr dirty="0"/>
              <a:t>💰 </a:t>
            </a:r>
            <a:r>
              <a:rPr dirty="0" err="1"/>
              <a:t>Корпоративные</a:t>
            </a:r>
            <a:r>
              <a:rPr dirty="0"/>
              <a:t> WMS:</a:t>
            </a:r>
            <a:endParaRPr>
              <a:cs typeface="Arial"/>
            </a:endParaRPr>
          </a:p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Высокая</a:t>
            </a:r>
            <a:r>
              <a:rPr dirty="0"/>
              <a:t> </a:t>
            </a:r>
            <a:r>
              <a:rPr dirty="0" err="1"/>
              <a:t>стоимость</a:t>
            </a:r>
            <a:r>
              <a:rPr dirty="0"/>
              <a:t> </a:t>
            </a:r>
            <a:r>
              <a:rPr dirty="0" err="1"/>
              <a:t>лицензий</a:t>
            </a:r>
            <a:endParaRPr dirty="0">
              <a:cs typeface="Arial"/>
            </a:endParaRPr>
          </a:p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rPr dirty="0"/>
              <a:t>• </a:t>
            </a:r>
            <a:r>
              <a:rPr dirty="0" err="1"/>
              <a:t>Сложность</a:t>
            </a:r>
            <a:r>
              <a:rPr dirty="0"/>
              <a:t> </a:t>
            </a:r>
            <a:r>
              <a:rPr dirty="0" err="1"/>
              <a:t>поддержки</a:t>
            </a:r>
            <a:endParaRPr dirty="0">
              <a:cs typeface="Arial"/>
            </a:endParaRPr>
          </a:p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rPr dirty="0"/>
              <a:t>• Требуют </a:t>
            </a:r>
            <a:r>
              <a:rPr dirty="0" err="1"/>
              <a:t>выделенных</a:t>
            </a:r>
            <a:r>
              <a:rPr dirty="0"/>
              <a:t> </a:t>
            </a:r>
            <a:r>
              <a:rPr dirty="0" err="1"/>
              <a:t>серверов</a:t>
            </a:r>
            <a:endParaRPr dirty="0">
              <a:cs typeface="Arial"/>
            </a:endParaRPr>
          </a:p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endParaRPr dirty="0">
              <a:cs typeface="Arial"/>
            </a:endParaRPr>
          </a:p>
          <a:p>
            <a:pPr>
              <a:defRPr sz="1600" b="1">
                <a:solidFill>
                  <a:srgbClr val="10B981"/>
                </a:solidFill>
                <a:latin typeface="Arial"/>
              </a:defRPr>
            </a:pPr>
            <a:r>
              <a:rPr dirty="0"/>
              <a:t>✅ </a:t>
            </a:r>
            <a:r>
              <a:rPr dirty="0" err="1"/>
              <a:t>Наше</a:t>
            </a:r>
            <a:r>
              <a:rPr dirty="0"/>
              <a:t> </a:t>
            </a:r>
            <a:r>
              <a:rPr dirty="0" err="1"/>
              <a:t>решение</a:t>
            </a:r>
            <a:r>
              <a:rPr dirty="0"/>
              <a:t>:</a:t>
            </a:r>
            <a:endParaRPr>
              <a:cs typeface="Arial"/>
            </a:endParaRPr>
          </a:p>
          <a:p>
            <a:pPr>
              <a:defRPr sz="1600">
                <a:solidFill>
                  <a:srgbClr val="1F2937"/>
                </a:solidFill>
                <a:latin typeface="Arial"/>
              </a:defRPr>
            </a:pPr>
            <a:r>
              <a:rPr dirty="0" err="1"/>
              <a:t>Локальный</a:t>
            </a:r>
            <a:r>
              <a:rPr dirty="0"/>
              <a:t> </a:t>
            </a:r>
            <a:r>
              <a:rPr dirty="0" err="1"/>
              <a:t>веб-сервис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открытом</a:t>
            </a:r>
            <a:r>
              <a:rPr dirty="0"/>
              <a:t> ПО</a:t>
            </a:r>
            <a:endParaRPr dirty="0">
              <a:cs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60720" y="2560320"/>
            <a:ext cx="28346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64748B"/>
                </a:solidFill>
                <a:latin typeface="Arial"/>
              </a:defRPr>
            </a:pPr>
            <a:r>
              <a:t>Место для скриншота</a:t>
            </a:r>
            <a:br/>
            <a:r>
              <a:t>проблемы</a:t>
            </a:r>
          </a:p>
        </p:txBody>
      </p:sp>
      <p:pic>
        <p:nvPicPr>
          <p:cNvPr id="6" name="Рисунок 5" descr="Изображение выглядит как человек, одежда, металлообработка, ремесленни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CD9C802-16FF-33D2-188D-647575FB7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101990"/>
            <a:ext cx="4300603" cy="35266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E3A8A"/>
                </a:solidFill>
                <a:latin typeface="Arial Black"/>
              </a:defRPr>
            </a:pPr>
            <a:r>
              <a:t>Цель и задачи работы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8229600" cy="914400"/>
          </a:xfrm>
          <a:prstGeom prst="round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587333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600" b="1">
                <a:solidFill>
                  <a:srgbClr val="1E3A8A"/>
                </a:solidFill>
                <a:latin typeface="Arial"/>
              </a:defRPr>
            </a:pPr>
            <a:r>
              <a:rPr dirty="0"/>
              <a:t>🎯 </a:t>
            </a:r>
            <a:r>
              <a:rPr dirty="0" err="1"/>
              <a:t>Цель</a:t>
            </a:r>
            <a:r>
              <a:rPr dirty="0"/>
              <a:t>: </a:t>
            </a:r>
            <a:r>
              <a:rPr dirty="0" err="1"/>
              <a:t>Проектирование</a:t>
            </a:r>
            <a:r>
              <a:rPr dirty="0"/>
              <a:t> и </a:t>
            </a:r>
            <a:r>
              <a:rPr dirty="0" err="1"/>
              <a:t>реализация</a:t>
            </a:r>
            <a:r>
              <a:rPr dirty="0"/>
              <a:t> </a:t>
            </a:r>
            <a:r>
              <a:rPr dirty="0" err="1"/>
              <a:t>веб-сервиса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учёта</a:t>
            </a:r>
            <a:r>
              <a:rPr dirty="0"/>
              <a:t> </a:t>
            </a:r>
            <a:r>
              <a:rPr dirty="0" err="1"/>
              <a:t>товаров</a:t>
            </a:r>
            <a:endParaRPr lang="ru-RU">
              <a:cs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8242573" cy="208262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800"/>
              </a:spcBef>
              <a:defRPr sz="15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📋 </a:t>
            </a:r>
            <a:r>
              <a:rPr sz="1600" dirty="0" err="1"/>
              <a:t>Задачи</a:t>
            </a:r>
            <a:r>
              <a:rPr sz="1600" dirty="0"/>
              <a:t>:</a:t>
            </a:r>
            <a:endParaRPr lang="ru-RU" sz="1600" dirty="0">
              <a:cs typeface="Arial"/>
            </a:endParaRPr>
          </a:p>
          <a:p>
            <a:pPr>
              <a:spcBef>
                <a:spcPts val="800"/>
              </a:spcBef>
              <a:defRPr sz="15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1. Анализ </a:t>
            </a:r>
            <a:r>
              <a:rPr sz="1600" dirty="0" err="1"/>
              <a:t>предметной</a:t>
            </a:r>
            <a:r>
              <a:rPr sz="1600" dirty="0"/>
              <a:t> </a:t>
            </a:r>
            <a:r>
              <a:rPr sz="1600" dirty="0" err="1"/>
              <a:t>области</a:t>
            </a:r>
            <a:r>
              <a:rPr sz="1600" dirty="0"/>
              <a:t> и </a:t>
            </a:r>
            <a:r>
              <a:rPr sz="1600" dirty="0" err="1"/>
              <a:t>требований</a:t>
            </a:r>
            <a:r>
              <a:rPr sz="1600" dirty="0"/>
              <a:t> (ГОСТ Р ИСО/МЭК 25010-2015)</a:t>
            </a:r>
            <a:endParaRPr sz="1600">
              <a:cs typeface="Arial"/>
            </a:endParaRPr>
          </a:p>
          <a:p>
            <a:pPr>
              <a:spcBef>
                <a:spcPts val="800"/>
              </a:spcBef>
              <a:defRPr sz="15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2. </a:t>
            </a:r>
            <a:r>
              <a:rPr sz="1600" dirty="0" err="1"/>
              <a:t>Обоснование</a:t>
            </a:r>
            <a:r>
              <a:rPr sz="1600" dirty="0"/>
              <a:t> </a:t>
            </a:r>
            <a:r>
              <a:rPr sz="1600" dirty="0" err="1"/>
              <a:t>технологического</a:t>
            </a:r>
            <a:r>
              <a:rPr sz="1600" dirty="0"/>
              <a:t> </a:t>
            </a:r>
            <a:r>
              <a:rPr sz="1600" dirty="0" err="1"/>
              <a:t>стека</a:t>
            </a:r>
            <a:endParaRPr sz="1600">
              <a:cs typeface="Arial"/>
            </a:endParaRPr>
          </a:p>
          <a:p>
            <a:pPr>
              <a:spcBef>
                <a:spcPts val="800"/>
              </a:spcBef>
              <a:defRPr sz="15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3. </a:t>
            </a:r>
            <a:r>
              <a:rPr sz="1600" dirty="0" err="1"/>
              <a:t>Проектирование</a:t>
            </a:r>
            <a:r>
              <a:rPr sz="1600" dirty="0"/>
              <a:t> </a:t>
            </a:r>
            <a:r>
              <a:rPr sz="1600" dirty="0" err="1"/>
              <a:t>реляционной</a:t>
            </a:r>
            <a:r>
              <a:rPr sz="1600" dirty="0"/>
              <a:t> БД (3NF, ACID)</a:t>
            </a:r>
            <a:endParaRPr sz="1600">
              <a:cs typeface="Arial"/>
            </a:endParaRPr>
          </a:p>
          <a:p>
            <a:pPr>
              <a:spcBef>
                <a:spcPts val="800"/>
              </a:spcBef>
              <a:defRPr sz="15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4. </a:t>
            </a:r>
            <a:r>
              <a:rPr sz="1600" dirty="0" err="1"/>
              <a:t>Разработка</a:t>
            </a:r>
            <a:r>
              <a:rPr sz="1600" dirty="0"/>
              <a:t> </a:t>
            </a:r>
            <a:r>
              <a:rPr sz="1600" dirty="0" err="1"/>
              <a:t>клиент-серверной</a:t>
            </a:r>
            <a:r>
              <a:rPr sz="1600" dirty="0"/>
              <a:t> </a:t>
            </a:r>
            <a:r>
              <a:rPr sz="1600" dirty="0" err="1"/>
              <a:t>архитектуры</a:t>
            </a:r>
            <a:r>
              <a:rPr sz="1600" dirty="0"/>
              <a:t> (REST API, SPA)</a:t>
            </a:r>
            <a:endParaRPr sz="1600">
              <a:cs typeface="Arial"/>
            </a:endParaRPr>
          </a:p>
          <a:p>
            <a:pPr>
              <a:spcBef>
                <a:spcPts val="800"/>
              </a:spcBef>
              <a:defRPr sz="15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5. </a:t>
            </a:r>
            <a:r>
              <a:rPr sz="1600" dirty="0" err="1"/>
              <a:t>Тестирование</a:t>
            </a:r>
            <a:r>
              <a:rPr sz="1600" dirty="0"/>
              <a:t> и </a:t>
            </a:r>
            <a:r>
              <a:rPr sz="1600" dirty="0" err="1"/>
              <a:t>оценка</a:t>
            </a:r>
            <a:r>
              <a:rPr sz="1600" dirty="0"/>
              <a:t> </a:t>
            </a:r>
            <a:r>
              <a:rPr sz="1600" dirty="0" err="1"/>
              <a:t>метрик</a:t>
            </a:r>
            <a:r>
              <a:rPr sz="1600" dirty="0"/>
              <a:t> </a:t>
            </a:r>
            <a:r>
              <a:rPr sz="1600" dirty="0" err="1"/>
              <a:t>качества</a:t>
            </a:r>
            <a:endParaRPr sz="1600" dirty="0" err="1"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E3A8A"/>
                </a:solidFill>
                <a:latin typeface="Arial Black"/>
              </a:defRPr>
            </a:pPr>
            <a:r>
              <a:t>Архитектура системы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3B82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63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🖥️ Frontend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2514599" cy="58477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400">
                <a:solidFill>
                  <a:srgbClr val="FFFFFF"/>
                </a:solidFill>
                <a:latin typeface="Arial"/>
              </a:defRPr>
            </a:pPr>
            <a:r>
              <a:rPr sz="1600"/>
              <a:t>HTML5, CSS3, Vanilla JS</a:t>
            </a:r>
            <a:br>
              <a:rPr sz="1600" dirty="0"/>
            </a:br>
            <a:r>
              <a:rPr sz="1600"/>
              <a:t>Fetch API, SPA</a:t>
            </a:r>
            <a:endParaRPr lang="ru-RU" sz="1600">
              <a:cs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84132" y="2949044"/>
            <a:ext cx="8229600" cy="1097280"/>
          </a:xfrm>
          <a:prstGeom prst="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7012" y="3040484"/>
            <a:ext cx="7863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⚙️ 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7012" y="3406244"/>
            <a:ext cx="2291653" cy="58477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400">
                <a:solidFill>
                  <a:srgbClr val="FFFFFF"/>
                </a:solidFill>
                <a:latin typeface="Arial"/>
              </a:defRPr>
            </a:pPr>
            <a:r>
              <a:rPr sz="1600" dirty="0"/>
              <a:t>Node.js + Express</a:t>
            </a:r>
            <a:br>
              <a:rPr sz="1600" dirty="0"/>
            </a:br>
            <a:r>
              <a:rPr sz="1600" dirty="0"/>
              <a:t>JWT, </a:t>
            </a:r>
            <a:r>
              <a:rPr sz="1600" dirty="0" err="1"/>
              <a:t>bcrypt</a:t>
            </a:r>
            <a:r>
              <a:rPr sz="1600" dirty="0"/>
              <a:t>, REST API</a:t>
            </a:r>
            <a:endParaRPr lang="ru-RU" sz="1600" dirty="0">
              <a:cs typeface="Arial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4824190"/>
            <a:ext cx="8229600" cy="1097280"/>
          </a:xfrm>
          <a:prstGeom prst="rect">
            <a:avLst/>
          </a:prstGeom>
          <a:solidFill>
            <a:srgbClr val="F59E0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915630"/>
            <a:ext cx="7863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Arial"/>
              </a:defRPr>
            </a:pPr>
            <a:r>
              <a:t>💾 Database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81390"/>
            <a:ext cx="1777090" cy="58477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400">
                <a:solidFill>
                  <a:srgbClr val="FFFFFF"/>
                </a:solidFill>
                <a:latin typeface="Arial"/>
              </a:defRPr>
            </a:pPr>
            <a:r>
              <a:rPr sz="1600"/>
              <a:t>SQLite</a:t>
            </a:r>
            <a:br>
              <a:rPr sz="1600" dirty="0"/>
            </a:br>
            <a:r>
              <a:rPr sz="1600"/>
              <a:t>WAL mode, ACID</a:t>
            </a:r>
            <a:endParaRPr lang="ru-RU" sz="1600">
              <a:cs typeface="Arial"/>
            </a:endParaRPr>
          </a:p>
        </p:txBody>
      </p:sp>
      <p:sp>
        <p:nvSpPr>
          <p:cNvPr id="12" name="Down Arrow 11"/>
          <p:cNvSpPr/>
          <p:nvPr/>
        </p:nvSpPr>
        <p:spPr>
          <a:xfrm>
            <a:off x="4114800" y="2476396"/>
            <a:ext cx="457200" cy="274320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Down Arrow 12"/>
          <p:cNvSpPr/>
          <p:nvPr/>
        </p:nvSpPr>
        <p:spPr>
          <a:xfrm>
            <a:off x="4114800" y="4299351"/>
            <a:ext cx="457200" cy="274320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E3A8A"/>
                </a:solidFill>
                <a:latin typeface="Arial Black"/>
              </a:defRPr>
            </a:pPr>
            <a:r>
              <a:t>Модель данных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46734" cy="9144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234125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300">
                <a:solidFill>
                  <a:srgbClr val="1F2937"/>
                </a:solidFill>
                <a:latin typeface="Consolas"/>
              </a:defRPr>
            </a:pPr>
            <a:r>
              <a:rPr sz="1600" dirty="0"/>
              <a:t> Users: id, name, email, password, </a:t>
            </a:r>
            <a:r>
              <a:rPr sz="1600" dirty="0" err="1"/>
              <a:t>created_at</a:t>
            </a:r>
            <a:endParaRPr lang="ru-RU" sz="1600"/>
          </a:p>
        </p:txBody>
      </p:sp>
      <p:sp>
        <p:nvSpPr>
          <p:cNvPr id="5" name="Rounded Rectangle 4"/>
          <p:cNvSpPr/>
          <p:nvPr/>
        </p:nvSpPr>
        <p:spPr>
          <a:xfrm>
            <a:off x="457200" y="2286000"/>
            <a:ext cx="5436295" cy="903962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4663440" cy="58477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1300">
                <a:solidFill>
                  <a:srgbClr val="1F2937"/>
                </a:solidFill>
                <a:latin typeface="Consolas"/>
              </a:defRPr>
            </a:pPr>
            <a:r>
              <a:rPr sz="1600" dirty="0"/>
              <a:t>📦 Products: id, </a:t>
            </a:r>
            <a:r>
              <a:rPr sz="1600" dirty="0" err="1"/>
              <a:t>user_id</a:t>
            </a:r>
            <a:r>
              <a:rPr sz="1600" dirty="0"/>
              <a:t>, name, </a:t>
            </a:r>
            <a:endParaRPr lang="ru-RU" sz="1600"/>
          </a:p>
          <a:p>
            <a:pPr>
              <a:defRPr sz="1300">
                <a:solidFill>
                  <a:srgbClr val="1F2937"/>
                </a:solidFill>
                <a:latin typeface="Consolas"/>
              </a:defRPr>
            </a:pPr>
            <a:r>
              <a:rPr sz="1600"/>
              <a:t>category, quantity, price, cell</a:t>
            </a:r>
            <a:endParaRPr lang="ru-RU" sz="1600"/>
          </a:p>
        </p:txBody>
      </p:sp>
      <p:sp>
        <p:nvSpPr>
          <p:cNvPr id="7" name="Rounded Rectangle 6"/>
          <p:cNvSpPr/>
          <p:nvPr/>
        </p:nvSpPr>
        <p:spPr>
          <a:xfrm>
            <a:off x="457200" y="3414595"/>
            <a:ext cx="5425857" cy="883085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4730782" cy="58477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300">
                <a:solidFill>
                  <a:srgbClr val="1F2937"/>
                </a:solidFill>
                <a:latin typeface="Consolas"/>
              </a:defRPr>
            </a:pPr>
            <a:r>
              <a:rPr sz="1600" dirty="0"/>
              <a:t>📝 Activities: id, </a:t>
            </a:r>
            <a:r>
              <a:rPr sz="1600" dirty="0" err="1"/>
              <a:t>user_id</a:t>
            </a:r>
            <a:r>
              <a:rPr sz="1600" dirty="0"/>
              <a:t>, text, type, </a:t>
            </a:r>
            <a:endParaRPr lang="ru-RU" sz="1600"/>
          </a:p>
          <a:p>
            <a:pPr>
              <a:defRPr sz="1300">
                <a:solidFill>
                  <a:srgbClr val="1F2937"/>
                </a:solidFill>
                <a:latin typeface="Consolas"/>
              </a:defRPr>
            </a:pPr>
            <a:r>
              <a:rPr sz="1600"/>
              <a:t>created_at</a:t>
            </a:r>
            <a:endParaRPr lang="ru-RU" sz="1600"/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5591787" cy="58477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rPr sz="1600" dirty="0"/>
              <a:t>🔗 </a:t>
            </a:r>
            <a:r>
              <a:rPr sz="1600" dirty="0" err="1"/>
              <a:t>Связи</a:t>
            </a:r>
            <a:r>
              <a:rPr sz="1600" dirty="0"/>
              <a:t>: 1→N, FOREIGN KEY, ON DELETE CASCADE</a:t>
            </a:r>
            <a:br>
              <a:rPr sz="1600" dirty="0"/>
            </a:br>
            <a:r>
              <a:rPr sz="1600" dirty="0"/>
              <a:t>📐 </a:t>
            </a:r>
            <a:r>
              <a:rPr sz="1600" dirty="0" err="1"/>
              <a:t>Нормализация</a:t>
            </a:r>
            <a:r>
              <a:rPr sz="1600" dirty="0"/>
              <a:t>: 3NF</a:t>
            </a:r>
            <a:endParaRPr lang="ru-RU" sz="1600" dirty="0"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E3A8A"/>
                </a:solidFill>
                <a:latin typeface="Arial Black"/>
              </a:defRPr>
            </a:pPr>
            <a:r>
              <a:t>Безопасность и аутентификация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34651"/>
            <a:ext cx="3931920" cy="2713971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2826415" cy="236988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🔐 JWT + </a:t>
            </a:r>
            <a:r>
              <a:rPr sz="1600" dirty="0" err="1"/>
              <a:t>bcrypt</a:t>
            </a:r>
            <a:r>
              <a:rPr sz="1600" dirty="0"/>
              <a:t>:</a:t>
            </a:r>
            <a:endParaRPr lang="ru-RU" sz="1600">
              <a:cs typeface="Arial"/>
            </a:endParaRP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• </a:t>
            </a:r>
            <a:r>
              <a:rPr sz="1600" dirty="0" err="1"/>
              <a:t>Хеширование</a:t>
            </a:r>
            <a:r>
              <a:rPr sz="1600" dirty="0"/>
              <a:t> (cost=10)</a:t>
            </a:r>
            <a:endParaRPr sz="1600" dirty="0">
              <a:cs typeface="Arial"/>
            </a:endParaRP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• Stateless-сессии (7 </a:t>
            </a:r>
            <a:r>
              <a:rPr sz="1600" dirty="0" err="1"/>
              <a:t>дней</a:t>
            </a:r>
            <a:r>
              <a:rPr sz="1600" dirty="0"/>
              <a:t>)</a:t>
            </a:r>
            <a:endParaRPr sz="1600" dirty="0">
              <a:cs typeface="Arial"/>
            </a:endParaRP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  <a:latin typeface="Arial"/>
              </a:defRPr>
            </a:pPr>
            <a:r>
              <a:rPr sz="1600"/>
              <a:t>• Middleware authenticate</a:t>
            </a:r>
            <a:endParaRPr sz="1600" dirty="0">
              <a:cs typeface="Arial"/>
            </a:endParaRP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  <a:latin typeface="Arial"/>
              </a:defRPr>
            </a:pPr>
            <a:endParaRPr sz="1600" dirty="0">
              <a:cs typeface="Arial"/>
            </a:endParaRP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🛡️ </a:t>
            </a:r>
            <a:r>
              <a:rPr sz="1600" dirty="0" err="1"/>
              <a:t>Защита</a:t>
            </a:r>
            <a:r>
              <a:rPr sz="1600" dirty="0"/>
              <a:t> </a:t>
            </a:r>
            <a:r>
              <a:rPr sz="1600" dirty="0" err="1"/>
              <a:t>от</a:t>
            </a:r>
            <a:r>
              <a:rPr sz="1600" dirty="0"/>
              <a:t>:</a:t>
            </a:r>
            <a:endParaRPr sz="1600" dirty="0">
              <a:cs typeface="Arial"/>
            </a:endParaRPr>
          </a:p>
          <a:p>
            <a:pPr>
              <a:spcBef>
                <a:spcPts val="400"/>
              </a:spcBef>
              <a:defRPr sz="13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SQL-</a:t>
            </a:r>
            <a:r>
              <a:rPr sz="1600" dirty="0" err="1"/>
              <a:t>инъекций</a:t>
            </a:r>
            <a:r>
              <a:rPr sz="1600" dirty="0"/>
              <a:t>, XSS, CSRF,</a:t>
            </a:r>
            <a:br>
              <a:rPr sz="1600" dirty="0"/>
            </a:br>
            <a:r>
              <a:rPr sz="1600" dirty="0"/>
              <a:t>brute-force</a:t>
            </a:r>
            <a:endParaRPr sz="1600" dirty="0">
              <a:cs typeface="Arial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82438" y="1013774"/>
            <a:ext cx="4365320" cy="5281807"/>
          </a:xfrm>
          <a:prstGeom prst="rect">
            <a:avLst/>
          </a:prstGeom>
          <a:solidFill>
            <a:srgbClr val="1F2937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90372" y="1280160"/>
            <a:ext cx="4004988" cy="526297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900">
                <a:solidFill>
                  <a:srgbClr val="A7F3D0"/>
                </a:solidFill>
                <a:latin typeface="Consolas"/>
              </a:defRPr>
            </a:pPr>
            <a:r>
              <a:rPr sz="1400" dirty="0"/>
              <a:t># Пример </a:t>
            </a:r>
            <a:r>
              <a:rPr sz="1400" dirty="0" err="1"/>
              <a:t>кода</a:t>
            </a:r>
            <a:r>
              <a:rPr sz="1400" dirty="0"/>
              <a:t> </a:t>
            </a:r>
            <a:r>
              <a:rPr sz="1400" dirty="0" err="1"/>
              <a:t>аутентификации</a:t>
            </a:r>
            <a:br>
              <a:rPr sz="1400" dirty="0"/>
            </a:br>
            <a:br>
              <a:rPr sz="1400" dirty="0"/>
            </a:br>
            <a:r>
              <a:rPr sz="1400" dirty="0"/>
              <a:t>const authenticate = (req, res, next) =&gt; {</a:t>
            </a:r>
            <a:br>
              <a:rPr sz="1400" dirty="0"/>
            </a:br>
            <a:r>
              <a:rPr sz="1400" dirty="0"/>
              <a:t>  const token = </a:t>
            </a:r>
            <a:r>
              <a:rPr sz="1400" dirty="0" err="1"/>
              <a:t>req.headers</a:t>
            </a:r>
            <a:br>
              <a:rPr sz="1400" dirty="0"/>
            </a:br>
            <a:r>
              <a:rPr sz="1400" dirty="0"/>
              <a:t>    .</a:t>
            </a:r>
            <a:r>
              <a:rPr sz="1400" dirty="0" err="1"/>
              <a:t>authorization?.split</a:t>
            </a:r>
            <a:r>
              <a:rPr sz="1400" dirty="0"/>
              <a:t>(' ')[1];</a:t>
            </a:r>
            <a:br>
              <a:rPr sz="1400" dirty="0"/>
            </a:br>
            <a:r>
              <a:rPr sz="1400" dirty="0"/>
              <a:t>  </a:t>
            </a:r>
            <a:br>
              <a:rPr sz="1400" dirty="0"/>
            </a:br>
            <a:r>
              <a:rPr sz="1400" dirty="0"/>
              <a:t>  if (!token) {</a:t>
            </a:r>
            <a:br>
              <a:rPr sz="1400" dirty="0"/>
            </a:br>
            <a:r>
              <a:rPr sz="1400" dirty="0"/>
              <a:t>    return </a:t>
            </a:r>
            <a:r>
              <a:rPr sz="1400" dirty="0" err="1"/>
              <a:t>res.status</a:t>
            </a:r>
            <a:r>
              <a:rPr sz="1400" dirty="0"/>
              <a:t>(401)</a:t>
            </a:r>
            <a:br>
              <a:rPr sz="1400" dirty="0"/>
            </a:br>
            <a:r>
              <a:rPr sz="1400" dirty="0"/>
              <a:t>      .</a:t>
            </a:r>
            <a:r>
              <a:rPr sz="1400" dirty="0" err="1"/>
              <a:t>json</a:t>
            </a:r>
            <a:r>
              <a:rPr sz="1400" dirty="0"/>
              <a:t>({error: 'No token'});</a:t>
            </a:r>
            <a:br>
              <a:rPr sz="1400" dirty="0"/>
            </a:br>
            <a:r>
              <a:rPr sz="1400" dirty="0"/>
              <a:t>  }</a:t>
            </a:r>
            <a:br>
              <a:rPr sz="1400" dirty="0"/>
            </a:br>
            <a:r>
              <a:rPr sz="1400" dirty="0"/>
              <a:t>  </a:t>
            </a:r>
            <a:br>
              <a:rPr sz="1400" dirty="0"/>
            </a:br>
            <a:r>
              <a:rPr sz="1400" dirty="0"/>
              <a:t>  try {</a:t>
            </a:r>
            <a:br>
              <a:rPr sz="1400" dirty="0"/>
            </a:br>
            <a:r>
              <a:rPr sz="1400" dirty="0"/>
              <a:t>    const decoded = </a:t>
            </a:r>
            <a:r>
              <a:rPr sz="1400" dirty="0" err="1"/>
              <a:t>jwt.verify</a:t>
            </a:r>
            <a:r>
              <a:rPr sz="1400" dirty="0"/>
              <a:t>(</a:t>
            </a:r>
            <a:br>
              <a:rPr sz="1400" dirty="0"/>
            </a:br>
            <a:r>
              <a:rPr sz="1400" dirty="0"/>
              <a:t>      token, </a:t>
            </a:r>
            <a:br>
              <a:rPr sz="1400" dirty="0"/>
            </a:br>
            <a:r>
              <a:rPr sz="1400" dirty="0"/>
              <a:t>      </a:t>
            </a:r>
            <a:r>
              <a:rPr sz="1400" dirty="0" err="1"/>
              <a:t>process.env.JWT_SECRET</a:t>
            </a:r>
            <a:br>
              <a:rPr sz="1400" dirty="0"/>
            </a:br>
            <a:r>
              <a:rPr sz="1400" dirty="0"/>
              <a:t>    );</a:t>
            </a:r>
            <a:br>
              <a:rPr sz="1400" dirty="0"/>
            </a:br>
            <a:r>
              <a:rPr sz="1400" dirty="0"/>
              <a:t>    </a:t>
            </a:r>
            <a:r>
              <a:rPr sz="1400" dirty="0" err="1"/>
              <a:t>req.user</a:t>
            </a:r>
            <a:r>
              <a:rPr sz="1400" dirty="0"/>
              <a:t> = decoded;</a:t>
            </a:r>
            <a:br>
              <a:rPr sz="1400" dirty="0"/>
            </a:br>
            <a:r>
              <a:rPr sz="1400" dirty="0"/>
              <a:t>    next();</a:t>
            </a:r>
            <a:br>
              <a:rPr sz="1400" dirty="0"/>
            </a:br>
            <a:r>
              <a:rPr sz="1400" dirty="0"/>
              <a:t>  } catch (err) {</a:t>
            </a:r>
            <a:br>
              <a:rPr sz="1400" dirty="0"/>
            </a:br>
            <a:r>
              <a:rPr sz="1400" dirty="0"/>
              <a:t>    return </a:t>
            </a:r>
            <a:r>
              <a:rPr sz="1400" dirty="0" err="1"/>
              <a:t>res.status</a:t>
            </a:r>
            <a:r>
              <a:rPr sz="1400" dirty="0"/>
              <a:t>(401)</a:t>
            </a:r>
            <a:br>
              <a:rPr sz="1400" dirty="0"/>
            </a:br>
            <a:r>
              <a:rPr sz="1400" dirty="0"/>
              <a:t>      .</a:t>
            </a:r>
            <a:r>
              <a:rPr sz="1400" dirty="0" err="1"/>
              <a:t>json</a:t>
            </a:r>
            <a:r>
              <a:rPr sz="1400" dirty="0"/>
              <a:t>({error: 'Invalid'});</a:t>
            </a:r>
            <a:br>
              <a:rPr sz="1400" dirty="0"/>
            </a:br>
            <a:r>
              <a:rPr sz="1400" dirty="0"/>
              <a:t>  }</a:t>
            </a:r>
            <a:br>
              <a:rPr sz="1400" dirty="0"/>
            </a:br>
            <a:r>
              <a:rPr sz="1400" dirty="0"/>
              <a:t>};</a:t>
            </a:r>
            <a:endParaRPr lang="ru-RU" sz="1400"/>
          </a:p>
        </p:txBody>
      </p:sp>
      <p:sp>
        <p:nvSpPr>
          <p:cNvPr id="7" name="TextBox 6"/>
          <p:cNvSpPr txBox="1"/>
          <p:nvPr/>
        </p:nvSpPr>
        <p:spPr>
          <a:xfrm>
            <a:off x="457200" y="4085573"/>
            <a:ext cx="3928998" cy="1323439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📜 Журнал </a:t>
            </a:r>
            <a:r>
              <a:rPr sz="1600" dirty="0" err="1"/>
              <a:t>аудита</a:t>
            </a:r>
            <a:r>
              <a:rPr sz="1600" dirty="0"/>
              <a:t>: </a:t>
            </a:r>
            <a:r>
              <a:rPr sz="1600" dirty="0" err="1"/>
              <a:t>таблица</a:t>
            </a:r>
            <a:r>
              <a:rPr sz="1600" dirty="0"/>
              <a:t> Activities </a:t>
            </a:r>
            <a:endParaRPr lang="ru-RU" sz="1600">
              <a:cs typeface="Arial"/>
            </a:endParaRP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rPr sz="1600" err="1"/>
              <a:t>фиксирует</a:t>
            </a:r>
            <a:r>
              <a:rPr sz="1600" dirty="0"/>
              <a:t> </a:t>
            </a:r>
            <a:r>
              <a:rPr sz="1600" err="1"/>
              <a:t>все</a:t>
            </a:r>
            <a:r>
              <a:rPr sz="1600"/>
              <a:t> CRUD-операции</a:t>
            </a:r>
            <a:br>
              <a:rPr sz="1600" dirty="0"/>
            </a:br>
            <a:r>
              <a:rPr sz="1600"/>
              <a:t>(user_id, type, timestamp) — </a:t>
            </a:r>
            <a:r>
              <a:rPr sz="1600" err="1"/>
              <a:t>соответствие</a:t>
            </a:r>
            <a:r>
              <a:rPr sz="1600" dirty="0"/>
              <a:t> </a:t>
            </a:r>
            <a:endParaRPr lang="ru-RU" sz="1600">
              <a:cs typeface="Arial"/>
            </a:endParaRPr>
          </a:p>
          <a:p>
            <a:pPr>
              <a:defRPr sz="1400">
                <a:solidFill>
                  <a:srgbClr val="1F2937"/>
                </a:solidFill>
                <a:latin typeface="Arial"/>
              </a:defRPr>
            </a:pPr>
            <a:r>
              <a:rPr sz="1600"/>
              <a:t>ФЗ-152</a:t>
            </a:r>
            <a:endParaRPr sz="1600"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E3A8A"/>
                </a:solidFill>
                <a:latin typeface="Arial Black"/>
              </a:defRPr>
            </a:pPr>
            <a:r>
              <a:t>Результаты тестирования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931920" cy="73152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2327881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⚡ </a:t>
            </a:r>
            <a:r>
              <a:rPr sz="1600" dirty="0" err="1"/>
              <a:t>Загрузка</a:t>
            </a:r>
            <a:r>
              <a:rPr sz="1600" dirty="0"/>
              <a:t> </a:t>
            </a:r>
            <a:r>
              <a:rPr sz="1600" dirty="0" err="1"/>
              <a:t>страницы</a:t>
            </a:r>
            <a:endParaRPr lang="ru-RU" sz="1600" dirty="0">
              <a:cs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926080" y="1280160"/>
            <a:ext cx="1302472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rPr sz="1600" dirty="0"/>
              <a:t>120–180 </a:t>
            </a:r>
            <a:r>
              <a:rPr sz="1600" dirty="0" err="1"/>
              <a:t>мс</a:t>
            </a:r>
            <a:endParaRPr lang="ru-RU" sz="1600" dirty="0">
              <a:cs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3931920" cy="73152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573444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🔄 </a:t>
            </a:r>
            <a:r>
              <a:rPr sz="1600" dirty="0" err="1"/>
              <a:t>Отклик</a:t>
            </a:r>
            <a:r>
              <a:rPr sz="1600" dirty="0"/>
              <a:t> API</a:t>
            </a:r>
            <a:endParaRPr lang="ru-RU" sz="1600" dirty="0"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26080" y="2194560"/>
            <a:ext cx="1077539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400" b="1">
                <a:solidFill>
                  <a:srgbClr val="3B82F6"/>
                </a:solidFill>
                <a:latin typeface="Arial"/>
              </a:defRPr>
            </a:pPr>
            <a:r>
              <a:rPr sz="1600" dirty="0"/>
              <a:t>45–90 </a:t>
            </a:r>
            <a:r>
              <a:rPr sz="1600" dirty="0" err="1"/>
              <a:t>мс</a:t>
            </a:r>
            <a:endParaRPr lang="ru-RU" sz="1600" dirty="0">
              <a:cs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3017520"/>
            <a:ext cx="3931920" cy="73152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2299027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💾 </a:t>
            </a:r>
            <a:r>
              <a:rPr sz="1600" dirty="0" err="1"/>
              <a:t>Потребление</a:t>
            </a:r>
            <a:r>
              <a:rPr sz="1600" dirty="0"/>
              <a:t> RAM</a:t>
            </a:r>
            <a:endParaRPr lang="ru-RU" sz="1600" dirty="0"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926080" y="3108960"/>
            <a:ext cx="909223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400" b="1">
                <a:solidFill>
                  <a:srgbClr val="F59E0B"/>
                </a:solidFill>
                <a:latin typeface="Arial"/>
              </a:defRPr>
            </a:pPr>
            <a:r>
              <a:rPr sz="1600"/>
              <a:t>~65 МБ</a:t>
            </a:r>
            <a:endParaRPr lang="ru-RU" sz="1600">
              <a:cs typeface="Arial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3931920"/>
            <a:ext cx="3931920" cy="73152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1698798" cy="58477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📊 </a:t>
            </a:r>
            <a:r>
              <a:rPr sz="1600" dirty="0" err="1"/>
              <a:t>Пропускная</a:t>
            </a:r>
            <a:r>
              <a:rPr sz="1600" dirty="0"/>
              <a:t> </a:t>
            </a:r>
            <a:endParaRPr lang="ru-RU" sz="1600" dirty="0"/>
          </a:p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rPr sz="1600"/>
              <a:t>способность</a:t>
            </a:r>
            <a:endParaRPr lang="ru-RU" sz="1600">
              <a:cs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926080" y="4023360"/>
            <a:ext cx="1422184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400" b="1">
                <a:solidFill>
                  <a:srgbClr val="1E3A8A"/>
                </a:solidFill>
                <a:latin typeface="Arial"/>
              </a:defRPr>
            </a:pPr>
            <a:r>
              <a:rPr sz="1600"/>
              <a:t>~450 req/sec</a:t>
            </a:r>
            <a:endParaRPr lang="ru-RU" sz="1600">
              <a:cs typeface="Arial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572000" y="1261788"/>
            <a:ext cx="4114800" cy="2411260"/>
          </a:xfrm>
          <a:prstGeom prst="rect">
            <a:avLst/>
          </a:prstGeom>
          <a:solidFill>
            <a:srgbClr val="DBEAFE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0" y="1371600"/>
            <a:ext cx="2905026" cy="230832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📊 Качество </a:t>
            </a:r>
            <a:r>
              <a:rPr sz="1600" dirty="0" err="1"/>
              <a:t>кода</a:t>
            </a:r>
            <a:r>
              <a:rPr sz="1600" dirty="0"/>
              <a:t>:</a:t>
            </a:r>
            <a:endParaRPr lang="ru-RU" sz="1600">
              <a:cs typeface="Arial"/>
            </a:endParaRP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sz="1600" dirty="0">
              <a:cs typeface="Arial"/>
            </a:endParaRP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sz="1600"/>
              <a:t>Maintainability Index:</a:t>
            </a:r>
            <a:endParaRPr sz="1600" dirty="0">
              <a:cs typeface="Arial"/>
            </a:endParaRPr>
          </a:p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rPr sz="1600"/>
              <a:t>82/100 ✓</a:t>
            </a:r>
            <a:endParaRPr sz="1600">
              <a:cs typeface="Arial"/>
            </a:endParaRP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sz="1600" dirty="0">
              <a:cs typeface="Arial"/>
            </a:endParaRP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sz="1600"/>
              <a:t>Cyclomatic Complexity:</a:t>
            </a:r>
            <a:endParaRPr sz="1600" dirty="0">
              <a:cs typeface="Arial"/>
            </a:endParaRPr>
          </a:p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rPr sz="1600"/>
              <a:t>4.2 ✓</a:t>
            </a:r>
            <a:endParaRPr sz="1600">
              <a:cs typeface="Arial"/>
            </a:endParaRP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sz="1600" dirty="0">
              <a:cs typeface="Arial"/>
            </a:endParaRPr>
          </a:p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rPr sz="1600" dirty="0"/>
              <a:t>DRY </a:t>
            </a:r>
            <a:r>
              <a:rPr sz="1600" dirty="0" err="1"/>
              <a:t>принцип</a:t>
            </a:r>
            <a:r>
              <a:rPr sz="1600" dirty="0"/>
              <a:t>: </a:t>
            </a:r>
            <a:r>
              <a:rPr sz="1600" dirty="0" err="1"/>
              <a:t>соблюдён</a:t>
            </a:r>
            <a:r>
              <a:rPr sz="1600" dirty="0"/>
              <a:t> ✓</a:t>
            </a:r>
            <a:endParaRPr sz="1600">
              <a:cs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7199" y="4984524"/>
            <a:ext cx="4727890" cy="58477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rPr sz="1600" dirty="0"/>
              <a:t>✅ </a:t>
            </a:r>
            <a:r>
              <a:rPr sz="1600" dirty="0" err="1"/>
              <a:t>Функциональное</a:t>
            </a:r>
            <a:r>
              <a:rPr sz="1600" dirty="0"/>
              <a:t>: CRUD, </a:t>
            </a:r>
            <a:r>
              <a:rPr sz="1600" dirty="0" err="1"/>
              <a:t>авторизация</a:t>
            </a:r>
            <a:r>
              <a:rPr sz="1600" dirty="0"/>
              <a:t>, </a:t>
            </a:r>
            <a:endParaRPr lang="ru-RU" sz="1600" dirty="0" err="1"/>
          </a:p>
          <a:p>
            <a:pPr>
              <a:defRPr sz="1400" b="1">
                <a:solidFill>
                  <a:srgbClr val="10B981"/>
                </a:solidFill>
                <a:latin typeface="Arial"/>
              </a:defRPr>
            </a:pPr>
            <a:r>
              <a:rPr sz="1600"/>
              <a:t>фильтрация</a:t>
            </a:r>
            <a:r>
              <a:rPr sz="1600" dirty="0"/>
              <a:t> — </a:t>
            </a:r>
            <a:r>
              <a:rPr sz="1600" err="1"/>
              <a:t>все</a:t>
            </a:r>
            <a:r>
              <a:rPr sz="1600" dirty="0"/>
              <a:t> </a:t>
            </a:r>
            <a:r>
              <a:rPr sz="1600" err="1"/>
              <a:t>сценарии</a:t>
            </a:r>
            <a:r>
              <a:rPr sz="1600" dirty="0"/>
              <a:t> </a:t>
            </a:r>
            <a:r>
              <a:rPr sz="1600" err="1"/>
              <a:t>пройдены</a:t>
            </a:r>
            <a:endParaRPr lang="ru-RU" sz="1600"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E3A8A"/>
                </a:solidFill>
                <a:latin typeface="Arial Black"/>
              </a:defRPr>
            </a:pPr>
            <a:r>
              <a:t>Интерфейс системы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361818" cy="3293209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200" b="1">
                <a:solidFill>
                  <a:srgbClr val="3B82F6"/>
                </a:solidFill>
                <a:latin typeface="Arial"/>
              </a:defRPr>
            </a:pPr>
            <a:r>
              <a:rPr sz="1600"/>
              <a:t>📱 Адаптивность (mobile-first):</a:t>
            </a:r>
            <a:endParaRPr lang="ru-RU" sz="1600">
              <a:cs typeface="Arial"/>
            </a:endParaRP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sz="1600" dirty="0">
              <a:cs typeface="Arial"/>
            </a:endParaRPr>
          </a:p>
          <a:p>
            <a:pPr>
              <a:defRPr sz="1200" b="1">
                <a:solidFill>
                  <a:srgbClr val="3B82F6"/>
                </a:solidFill>
                <a:latin typeface="Arial"/>
              </a:defRPr>
            </a:pPr>
            <a:r>
              <a:rPr sz="1600"/>
              <a:t>📱 &lt;768px:</a:t>
            </a:r>
            <a:endParaRPr sz="1600">
              <a:cs typeface="Arial"/>
            </a:endParaRP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  • </a:t>
            </a:r>
            <a:r>
              <a:rPr sz="1600" dirty="0" err="1"/>
              <a:t>Одна</a:t>
            </a:r>
            <a:r>
              <a:rPr sz="1600" dirty="0"/>
              <a:t> </a:t>
            </a:r>
            <a:r>
              <a:rPr sz="1600" dirty="0" err="1"/>
              <a:t>колонка</a:t>
            </a:r>
            <a:endParaRPr sz="1600" dirty="0">
              <a:cs typeface="Arial"/>
            </a:endParaRP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  • </a:t>
            </a:r>
            <a:r>
              <a:rPr sz="1600" dirty="0" err="1"/>
              <a:t>Гамбургер-меню</a:t>
            </a:r>
            <a:endParaRPr sz="1600" dirty="0">
              <a:cs typeface="Arial"/>
            </a:endParaRP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  • </a:t>
            </a:r>
            <a:r>
              <a:rPr sz="1600" dirty="0" err="1"/>
              <a:t>Карточки</a:t>
            </a:r>
            <a:r>
              <a:rPr sz="1600" dirty="0"/>
              <a:t> </a:t>
            </a:r>
            <a:r>
              <a:rPr sz="1600" dirty="0" err="1"/>
              <a:t>товаров</a:t>
            </a:r>
            <a:endParaRPr sz="1600" dirty="0">
              <a:cs typeface="Arial"/>
            </a:endParaRP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sz="1600" dirty="0">
              <a:cs typeface="Arial"/>
            </a:endParaRPr>
          </a:p>
          <a:p>
            <a:pPr>
              <a:defRPr sz="1200" b="1">
                <a:solidFill>
                  <a:srgbClr val="3B82F6"/>
                </a:solidFill>
                <a:latin typeface="Arial"/>
              </a:defRPr>
            </a:pPr>
            <a:r>
              <a:rPr sz="1600"/>
              <a:t>💻 768–1024px:</a:t>
            </a:r>
            <a:endParaRPr sz="1600">
              <a:cs typeface="Arial"/>
            </a:endParaRP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  • </a:t>
            </a:r>
            <a:r>
              <a:rPr sz="1600" dirty="0" err="1"/>
              <a:t>Две</a:t>
            </a:r>
            <a:r>
              <a:rPr sz="1600" dirty="0"/>
              <a:t> </a:t>
            </a:r>
            <a:r>
              <a:rPr sz="1600" dirty="0" err="1"/>
              <a:t>колонки</a:t>
            </a:r>
            <a:endParaRPr sz="1600" dirty="0">
              <a:cs typeface="Arial"/>
            </a:endParaRP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endParaRPr sz="1600" dirty="0">
              <a:cs typeface="Arial"/>
            </a:endParaRPr>
          </a:p>
          <a:p>
            <a:pPr>
              <a:defRPr sz="1200" b="1">
                <a:solidFill>
                  <a:srgbClr val="3B82F6"/>
                </a:solidFill>
                <a:latin typeface="Arial"/>
              </a:defRPr>
            </a:pPr>
            <a:r>
              <a:rPr sz="1600"/>
              <a:t>🖥️ &gt;1024px:</a:t>
            </a:r>
            <a:endParaRPr sz="1600">
              <a:cs typeface="Arial"/>
            </a:endParaRP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  • </a:t>
            </a:r>
            <a:r>
              <a:rPr sz="1600" dirty="0" err="1"/>
              <a:t>Полная</a:t>
            </a:r>
            <a:r>
              <a:rPr sz="1600" dirty="0"/>
              <a:t> </a:t>
            </a:r>
            <a:r>
              <a:rPr sz="1600" dirty="0" err="1"/>
              <a:t>панель</a:t>
            </a:r>
            <a:endParaRPr sz="1600" dirty="0">
              <a:cs typeface="Arial"/>
            </a:endParaRPr>
          </a:p>
          <a:p>
            <a:pPr>
              <a:defRPr sz="12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  • </a:t>
            </a:r>
            <a:r>
              <a:rPr sz="1600" dirty="0" err="1"/>
              <a:t>Расширенные</a:t>
            </a:r>
            <a:r>
              <a:rPr sz="1600" dirty="0"/>
              <a:t> </a:t>
            </a:r>
            <a:r>
              <a:rPr sz="1600" dirty="0" err="1"/>
              <a:t>фильтры</a:t>
            </a:r>
            <a:endParaRPr sz="1600" dirty="0" err="1"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4574088"/>
            <a:ext cx="3407080" cy="83099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1400">
                <a:solidFill>
                  <a:srgbClr val="10B981"/>
                </a:solidFill>
                <a:latin typeface="Arial"/>
              </a:defRPr>
            </a:pPr>
            <a:r>
              <a:rPr sz="1600" dirty="0"/>
              <a:t>♿ </a:t>
            </a:r>
            <a:r>
              <a:rPr sz="1600" dirty="0" err="1"/>
              <a:t>Доступность</a:t>
            </a:r>
            <a:r>
              <a:rPr sz="1600" dirty="0"/>
              <a:t>: </a:t>
            </a:r>
            <a:r>
              <a:rPr sz="1600" dirty="0" err="1"/>
              <a:t>контраст</a:t>
            </a:r>
            <a:r>
              <a:rPr sz="1600" dirty="0"/>
              <a:t> ≥4.5:1, </a:t>
            </a:r>
            <a:endParaRPr lang="ru-RU" sz="1600"/>
          </a:p>
          <a:p>
            <a:pPr>
              <a:defRPr sz="1400">
                <a:solidFill>
                  <a:srgbClr val="10B981"/>
                </a:solidFill>
                <a:latin typeface="Arial"/>
              </a:defRPr>
            </a:pPr>
            <a:r>
              <a:rPr sz="1600"/>
              <a:t>клавиатурная</a:t>
            </a:r>
            <a:r>
              <a:rPr sz="1600" dirty="0"/>
              <a:t> </a:t>
            </a:r>
            <a:r>
              <a:rPr sz="1600" err="1"/>
              <a:t>навигация</a:t>
            </a:r>
            <a:r>
              <a:rPr sz="1600" dirty="0"/>
              <a:t>, </a:t>
            </a:r>
            <a:endParaRPr lang="ru-RU" sz="1600"/>
          </a:p>
          <a:p>
            <a:pPr>
              <a:defRPr sz="1400">
                <a:solidFill>
                  <a:srgbClr val="10B981"/>
                </a:solidFill>
                <a:latin typeface="Arial"/>
              </a:defRPr>
            </a:pPr>
            <a:r>
              <a:rPr sz="1600"/>
              <a:t>ARIA-атрибуты</a:t>
            </a:r>
            <a:r>
              <a:rPr sz="1600" dirty="0"/>
              <a:t> (WCAG 2.1 AA)</a:t>
            </a:r>
            <a:endParaRPr lang="ru-RU" sz="1600">
              <a:cs typeface="Arial"/>
            </a:endParaRPr>
          </a:p>
        </p:txBody>
      </p:sp>
      <p:pic>
        <p:nvPicPr>
          <p:cNvPr id="9" name="Рисунок 8" descr="Изображение выглядит как текст, снимок экрана, Операционная система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FB0FB57-267D-8A65-2C3A-BD1A506B5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802" y="3234521"/>
            <a:ext cx="1547878" cy="2674960"/>
          </a:xfrm>
          <a:prstGeom prst="rect">
            <a:avLst/>
          </a:prstGeom>
        </p:spPr>
      </p:pic>
      <p:pic>
        <p:nvPicPr>
          <p:cNvPr id="10" name="Рисунок 9" descr="Изображение выглядит как текст, снимок экрана, Мобильный телефон, Операционная систе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BA5204BE-0579-6F5F-8154-D7F5FE4AC8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425" y="1099634"/>
            <a:ext cx="4394548" cy="21013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E3A8A"/>
                </a:solidFill>
                <a:latin typeface="Arial Black"/>
              </a:defRPr>
            </a:pPr>
            <a:r>
              <a:t>Практическая значимость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8229600" cy="9144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2978701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500" b="1">
                <a:solidFill>
                  <a:srgbClr val="10B981"/>
                </a:solidFill>
                <a:latin typeface="Arial"/>
              </a:defRPr>
            </a:pPr>
            <a:r>
              <a:rPr sz="1600" dirty="0"/>
              <a:t>✅ </a:t>
            </a:r>
            <a:r>
              <a:rPr sz="1600" dirty="0" err="1"/>
              <a:t>Готов</a:t>
            </a:r>
            <a:r>
              <a:rPr sz="1600" dirty="0"/>
              <a:t> к </a:t>
            </a:r>
            <a:r>
              <a:rPr sz="1600" dirty="0" err="1"/>
              <a:t>развёртыванию</a:t>
            </a:r>
            <a:endParaRPr lang="ru-RU" sz="1600" dirty="0" err="1">
              <a:cs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97826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rPr lang="ru-RU" sz="1600"/>
              <a:t>В</a:t>
            </a:r>
            <a:r>
              <a:rPr sz="1600" dirty="0"/>
              <a:t> </a:t>
            </a:r>
            <a:r>
              <a:rPr sz="1600" err="1"/>
              <a:t>локальной</a:t>
            </a:r>
            <a:r>
              <a:rPr sz="1600" dirty="0"/>
              <a:t> </a:t>
            </a:r>
            <a:r>
              <a:rPr sz="1600" err="1"/>
              <a:t>сети</a:t>
            </a:r>
            <a:r>
              <a:rPr sz="1600" dirty="0"/>
              <a:t> </a:t>
            </a:r>
            <a:r>
              <a:rPr sz="1600" err="1"/>
              <a:t>малого</a:t>
            </a:r>
            <a:r>
              <a:rPr sz="1600" dirty="0"/>
              <a:t> </a:t>
            </a:r>
            <a:r>
              <a:rPr sz="1600" err="1"/>
              <a:t>склада</a:t>
            </a:r>
            <a:endParaRPr lang="ru-RU" sz="1600">
              <a:cs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2286000"/>
            <a:ext cx="8229600" cy="9144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2377439"/>
            <a:ext cx="1721946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500" b="1">
                <a:solidFill>
                  <a:srgbClr val="F59E0B"/>
                </a:solidFill>
                <a:latin typeface="Arial"/>
              </a:defRPr>
            </a:pPr>
            <a:r>
              <a:rPr sz="1600" dirty="0"/>
              <a:t>💰 </a:t>
            </a:r>
            <a:r>
              <a:rPr sz="1600" dirty="0" err="1"/>
              <a:t>Низкая</a:t>
            </a:r>
            <a:r>
              <a:rPr sz="1600" dirty="0"/>
              <a:t> TCO</a:t>
            </a:r>
            <a:endParaRPr lang="ru-RU" sz="1600" dirty="0"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4858702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rPr lang="ru-RU" sz="1600"/>
              <a:t>Отсутствие</a:t>
            </a:r>
            <a:r>
              <a:rPr sz="1600" dirty="0"/>
              <a:t> </a:t>
            </a:r>
            <a:r>
              <a:rPr sz="1600" dirty="0" err="1"/>
              <a:t>лицензий</a:t>
            </a:r>
            <a:r>
              <a:rPr sz="1600" dirty="0"/>
              <a:t>, </a:t>
            </a:r>
            <a:r>
              <a:rPr sz="1600" dirty="0" err="1"/>
              <a:t>минимальные</a:t>
            </a:r>
            <a:r>
              <a:rPr sz="1600" dirty="0"/>
              <a:t> </a:t>
            </a:r>
            <a:r>
              <a:rPr sz="1600" dirty="0" err="1"/>
              <a:t>требования</a:t>
            </a:r>
            <a:endParaRPr lang="ru-RU" sz="1600" dirty="0">
              <a:cs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" y="3383280"/>
            <a:ext cx="8229600" cy="9144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3474720"/>
            <a:ext cx="3247236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500" b="1">
                <a:solidFill>
                  <a:srgbClr val="3B82F6"/>
                </a:solidFill>
                <a:latin typeface="Arial"/>
              </a:defRPr>
            </a:pPr>
            <a:r>
              <a:rPr sz="1600" dirty="0"/>
              <a:t>📜 </a:t>
            </a:r>
            <a:r>
              <a:rPr sz="1600" dirty="0" err="1"/>
              <a:t>Соответствует</a:t>
            </a:r>
            <a:r>
              <a:rPr sz="1600" dirty="0"/>
              <a:t> </a:t>
            </a:r>
            <a:r>
              <a:rPr sz="1600" dirty="0" err="1"/>
              <a:t>стандартам</a:t>
            </a:r>
            <a:endParaRPr lang="ru-RU" sz="1600" dirty="0" err="1">
              <a:cs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3887603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rPr sz="1600"/>
              <a:t>ГОСТ Р ИСО/МЭК 25010-2015, ФЗ-152</a:t>
            </a:r>
            <a:endParaRPr lang="ru-RU" sz="1600">
              <a:cs typeface="Arial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57200" y="4480559"/>
            <a:ext cx="8229600" cy="9144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3352200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500" b="1">
                <a:solidFill>
                  <a:srgbClr val="1E3A8A"/>
                </a:solidFill>
                <a:latin typeface="Arial"/>
              </a:defRPr>
            </a:pPr>
            <a:r>
              <a:rPr sz="1600" dirty="0"/>
              <a:t>🎓 </a:t>
            </a:r>
            <a:r>
              <a:rPr sz="1600" dirty="0" err="1"/>
              <a:t>Образовательная</a:t>
            </a:r>
            <a:r>
              <a:rPr sz="1600" dirty="0"/>
              <a:t> </a:t>
            </a:r>
            <a:r>
              <a:rPr sz="1600" dirty="0" err="1"/>
              <a:t>ценность</a:t>
            </a:r>
            <a:endParaRPr lang="ru-RU" sz="1600" dirty="0" err="1">
              <a:cs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4937759"/>
            <a:ext cx="3829895" cy="33855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defRPr sz="1300">
                <a:solidFill>
                  <a:srgbClr val="1F2937"/>
                </a:solidFill>
                <a:latin typeface="Arial"/>
              </a:defRPr>
            </a:pPr>
            <a:r>
              <a:rPr lang="ru-RU" sz="1600" dirty="0"/>
              <a:t>Материалы</a:t>
            </a:r>
            <a:r>
              <a:rPr sz="1600" dirty="0"/>
              <a:t> </a:t>
            </a:r>
            <a:r>
              <a:rPr sz="1600" dirty="0" err="1"/>
              <a:t>для</a:t>
            </a:r>
            <a:r>
              <a:rPr sz="1600" dirty="0"/>
              <a:t> </a:t>
            </a:r>
            <a:r>
              <a:rPr sz="1600" dirty="0" err="1"/>
              <a:t>направления</a:t>
            </a:r>
            <a:r>
              <a:rPr sz="1600" dirty="0"/>
              <a:t> 09.02.07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E3A8A"/>
                </a:solidFill>
                <a:latin typeface="Arial Black"/>
              </a:defRPr>
            </a:pPr>
            <a:r>
              <a:t>Перспективы развития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446795" cy="453970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spcBef>
                <a:spcPts val="600"/>
              </a:spcBef>
              <a:defRPr sz="1600" b="1">
                <a:solidFill>
                  <a:srgbClr val="3B82F6"/>
                </a:solidFill>
                <a:latin typeface="Arial"/>
              </a:defRPr>
            </a:pPr>
            <a:r>
              <a:rPr dirty="0"/>
              <a:t>🔜 </a:t>
            </a:r>
            <a:r>
              <a:rPr dirty="0" err="1"/>
              <a:t>Масштабирование</a:t>
            </a:r>
            <a:r>
              <a:rPr dirty="0"/>
              <a:t>:</a:t>
            </a:r>
            <a:endParaRPr lang="ru-RU" dirty="0">
              <a:cs typeface="Arial"/>
            </a:endParaRPr>
          </a:p>
          <a:p>
            <a:pPr>
              <a:spcBef>
                <a:spcPts val="600"/>
              </a:spcBef>
              <a:defRPr sz="15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• </a:t>
            </a:r>
            <a:r>
              <a:rPr sz="1600" dirty="0" err="1"/>
              <a:t>Миграция</a:t>
            </a:r>
            <a:r>
              <a:rPr sz="1600" dirty="0"/>
              <a:t> </a:t>
            </a:r>
            <a:r>
              <a:rPr sz="1600" dirty="0" err="1"/>
              <a:t>на</a:t>
            </a:r>
            <a:r>
              <a:rPr sz="1600" dirty="0"/>
              <a:t> PostgreSQL/MVCC</a:t>
            </a:r>
            <a:endParaRPr sz="1600" dirty="0">
              <a:cs typeface="Arial"/>
            </a:endParaRPr>
          </a:p>
          <a:p>
            <a:pPr>
              <a:spcBef>
                <a:spcPts val="600"/>
              </a:spcBef>
              <a:defRPr sz="15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• RBAC-</a:t>
            </a:r>
            <a:r>
              <a:rPr sz="1600" dirty="0" err="1"/>
              <a:t>роли</a:t>
            </a:r>
            <a:r>
              <a:rPr sz="1600" dirty="0"/>
              <a:t> (</a:t>
            </a:r>
            <a:r>
              <a:rPr sz="1600" dirty="0" err="1"/>
              <a:t>админ</a:t>
            </a:r>
            <a:r>
              <a:rPr sz="1600" dirty="0"/>
              <a:t>, </a:t>
            </a:r>
            <a:r>
              <a:rPr sz="1600" dirty="0" err="1"/>
              <a:t>менеджер</a:t>
            </a:r>
            <a:r>
              <a:rPr sz="1600" dirty="0"/>
              <a:t>, </a:t>
            </a:r>
            <a:r>
              <a:rPr sz="1600" dirty="0" err="1"/>
              <a:t>кладовщик</a:t>
            </a:r>
            <a:r>
              <a:rPr sz="1600" dirty="0"/>
              <a:t>)</a:t>
            </a:r>
            <a:endParaRPr sz="1600" dirty="0">
              <a:cs typeface="Arial"/>
            </a:endParaRPr>
          </a:p>
          <a:p>
            <a:pPr>
              <a:spcBef>
                <a:spcPts val="600"/>
              </a:spcBef>
              <a:defRPr sz="1500">
                <a:solidFill>
                  <a:srgbClr val="1F2937"/>
                </a:solidFill>
                <a:latin typeface="Arial"/>
              </a:defRPr>
            </a:pPr>
            <a:endParaRPr sz="1600" dirty="0">
              <a:cs typeface="Arial"/>
            </a:endParaRPr>
          </a:p>
          <a:p>
            <a:pPr>
              <a:spcBef>
                <a:spcPts val="600"/>
              </a:spcBef>
              <a:defRPr sz="15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 </a:t>
            </a:r>
            <a:r>
              <a:rPr sz="1600" dirty="0" err="1"/>
              <a:t>Интеграции</a:t>
            </a:r>
            <a:r>
              <a:rPr sz="1600" dirty="0"/>
              <a:t>:</a:t>
            </a:r>
            <a:endParaRPr sz="1600" dirty="0">
              <a:cs typeface="Arial"/>
            </a:endParaRPr>
          </a:p>
          <a:p>
            <a:pPr>
              <a:spcBef>
                <a:spcPts val="600"/>
              </a:spcBef>
              <a:defRPr sz="15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• ТСД, </a:t>
            </a:r>
            <a:r>
              <a:rPr sz="1600" dirty="0" err="1"/>
              <a:t>сканеры</a:t>
            </a:r>
            <a:r>
              <a:rPr sz="1600" dirty="0"/>
              <a:t> </a:t>
            </a:r>
            <a:r>
              <a:rPr sz="1600" dirty="0" err="1"/>
              <a:t>штрихкодов</a:t>
            </a:r>
            <a:endParaRPr sz="1600" dirty="0" err="1">
              <a:cs typeface="Arial"/>
            </a:endParaRPr>
          </a:p>
          <a:p>
            <a:pPr>
              <a:spcBef>
                <a:spcPts val="600"/>
              </a:spcBef>
              <a:defRPr sz="15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• 1С/ERP </a:t>
            </a:r>
            <a:r>
              <a:rPr sz="1600" dirty="0" err="1"/>
              <a:t>системы</a:t>
            </a:r>
            <a:endParaRPr sz="1600" dirty="0" err="1">
              <a:cs typeface="Arial"/>
            </a:endParaRPr>
          </a:p>
          <a:p>
            <a:pPr>
              <a:spcBef>
                <a:spcPts val="600"/>
              </a:spcBef>
              <a:defRPr sz="1500">
                <a:solidFill>
                  <a:srgbClr val="1F2937"/>
                </a:solidFill>
                <a:latin typeface="Arial"/>
              </a:defRPr>
            </a:pPr>
            <a:endParaRPr sz="1600" dirty="0">
              <a:cs typeface="Arial"/>
            </a:endParaRPr>
          </a:p>
          <a:p>
            <a:pPr>
              <a:spcBef>
                <a:spcPts val="600"/>
              </a:spcBef>
              <a:defRPr sz="1600" b="1">
                <a:solidFill>
                  <a:srgbClr val="3B82F6"/>
                </a:solidFill>
                <a:latin typeface="Arial"/>
              </a:defRPr>
            </a:pPr>
            <a:r>
              <a:rPr dirty="0"/>
              <a:t>📱 </a:t>
            </a:r>
            <a:r>
              <a:rPr dirty="0" err="1"/>
              <a:t>Мобильное</a:t>
            </a:r>
            <a:r>
              <a:rPr dirty="0"/>
              <a:t> </a:t>
            </a:r>
            <a:r>
              <a:rPr dirty="0" err="1"/>
              <a:t>приложение</a:t>
            </a:r>
            <a:endParaRPr dirty="0" err="1">
              <a:cs typeface="Arial"/>
            </a:endParaRPr>
          </a:p>
          <a:p>
            <a:pPr>
              <a:spcBef>
                <a:spcPts val="600"/>
              </a:spcBef>
              <a:defRPr sz="1500">
                <a:solidFill>
                  <a:srgbClr val="1F2937"/>
                </a:solidFill>
                <a:latin typeface="Arial"/>
              </a:defRPr>
            </a:pPr>
            <a:r>
              <a:rPr sz="1600"/>
              <a:t>(React Native/Flutter)</a:t>
            </a:r>
            <a:endParaRPr sz="1600" dirty="0">
              <a:cs typeface="Arial"/>
            </a:endParaRPr>
          </a:p>
          <a:p>
            <a:pPr>
              <a:spcBef>
                <a:spcPts val="600"/>
              </a:spcBef>
              <a:defRPr sz="1500">
                <a:solidFill>
                  <a:srgbClr val="1F2937"/>
                </a:solidFill>
                <a:latin typeface="Arial"/>
              </a:defRPr>
            </a:pPr>
            <a:endParaRPr sz="1600" dirty="0">
              <a:cs typeface="Arial"/>
            </a:endParaRPr>
          </a:p>
          <a:p>
            <a:pPr>
              <a:spcBef>
                <a:spcPts val="600"/>
              </a:spcBef>
              <a:defRPr sz="1600" b="1">
                <a:solidFill>
                  <a:srgbClr val="3B82F6"/>
                </a:solidFill>
                <a:latin typeface="Arial"/>
              </a:defRPr>
            </a:pPr>
            <a:r>
              <a:t>🚀 DevOps:</a:t>
            </a:r>
            <a:endParaRPr dirty="0">
              <a:cs typeface="Arial"/>
            </a:endParaRPr>
          </a:p>
          <a:p>
            <a:pPr>
              <a:spcBef>
                <a:spcPts val="600"/>
              </a:spcBef>
              <a:defRPr sz="1500">
                <a:solidFill>
                  <a:srgbClr val="1F2937"/>
                </a:solidFill>
                <a:latin typeface="Arial"/>
              </a:defRPr>
            </a:pPr>
            <a:r>
              <a:rPr sz="1600"/>
              <a:t>• CI/CD, Docker</a:t>
            </a:r>
            <a:endParaRPr sz="1600" dirty="0">
              <a:cs typeface="Arial"/>
            </a:endParaRPr>
          </a:p>
          <a:p>
            <a:pPr>
              <a:spcBef>
                <a:spcPts val="600"/>
              </a:spcBef>
              <a:defRPr sz="1500">
                <a:solidFill>
                  <a:srgbClr val="1F2937"/>
                </a:solidFill>
                <a:latin typeface="Arial"/>
              </a:defRPr>
            </a:pPr>
            <a:r>
              <a:rPr sz="1600"/>
              <a:t>• Prometheus + Grafana</a:t>
            </a:r>
            <a:endParaRPr sz="1600" dirty="0">
              <a:cs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1E3A8A"/>
                </a:solidFill>
                <a:latin typeface="Arial Black"/>
              </a:defRPr>
            </a:pPr>
            <a:r>
              <a:t>Выводы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solidFill>
            <a:srgbClr val="10B98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842963" cy="58477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rPr dirty="0"/>
              <a:t>🏁 Цель </a:t>
            </a:r>
            <a:r>
              <a:rPr dirty="0" err="1"/>
              <a:t>достигнута</a:t>
            </a:r>
            <a:r>
              <a:rPr dirty="0"/>
              <a:t>: </a:t>
            </a:r>
            <a:r>
              <a:rPr dirty="0" err="1"/>
              <a:t>спроектирован</a:t>
            </a:r>
            <a:r>
              <a:rPr dirty="0"/>
              <a:t> и </a:t>
            </a:r>
            <a:r>
              <a:rPr dirty="0" err="1"/>
              <a:t>реализован</a:t>
            </a:r>
            <a:r>
              <a:rPr dirty="0"/>
              <a:t> </a:t>
            </a:r>
            <a:r>
              <a:rPr dirty="0" err="1"/>
              <a:t>работоспособный</a:t>
            </a:r>
            <a:r>
              <a:rPr dirty="0"/>
              <a:t> </a:t>
            </a:r>
            <a:endParaRPr lang="ru-RU">
              <a:cs typeface="Arial"/>
            </a:endParaRPr>
          </a:p>
          <a:p>
            <a:pPr algn="ctr">
              <a:defRPr sz="1600" b="1">
                <a:solidFill>
                  <a:srgbClr val="FFFFFF"/>
                </a:solidFill>
                <a:latin typeface="Arial"/>
              </a:defRPr>
            </a:pPr>
            <a:r>
              <a:t>веб-сервис</a:t>
            </a:r>
            <a:endParaRPr lang="ru-RU">
              <a:cs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7393371" cy="3247043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>
              <a:spcBef>
                <a:spcPts val="600"/>
              </a:spcBef>
              <a:defRPr sz="1500" b="1">
                <a:solidFill>
                  <a:srgbClr val="1E3A8A"/>
                </a:solidFill>
                <a:latin typeface="Arial"/>
              </a:defRPr>
            </a:pPr>
            <a:r>
              <a:rPr sz="1600" dirty="0"/>
              <a:t>✅ Ключевые </a:t>
            </a:r>
            <a:r>
              <a:rPr sz="1600" dirty="0" err="1"/>
              <a:t>результаты</a:t>
            </a:r>
            <a:r>
              <a:rPr sz="1600" dirty="0"/>
              <a:t>:</a:t>
            </a:r>
            <a:endParaRPr lang="ru-RU" sz="1600" dirty="0">
              <a:cs typeface="Arial"/>
            </a:endParaRPr>
          </a:p>
          <a:p>
            <a:pPr>
              <a:spcBef>
                <a:spcPts val="600"/>
              </a:spcBef>
              <a:defRPr sz="1400">
                <a:solidFill>
                  <a:srgbClr val="1F2937"/>
                </a:solidFill>
                <a:latin typeface="Arial"/>
              </a:defRPr>
            </a:pPr>
            <a:endParaRPr sz="1600" dirty="0">
              <a:cs typeface="Arial"/>
            </a:endParaRPr>
          </a:p>
          <a:p>
            <a:pPr>
              <a:spcBef>
                <a:spcPts val="600"/>
              </a:spcBef>
              <a:defRPr sz="14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1. Обоснован </a:t>
            </a:r>
            <a:r>
              <a:rPr sz="1600" dirty="0" err="1"/>
              <a:t>стек</a:t>
            </a:r>
            <a:r>
              <a:rPr sz="1600" dirty="0"/>
              <a:t>: Node.js + Express + SQLite + Vanilla JS</a:t>
            </a:r>
            <a:endParaRPr sz="1600" dirty="0">
              <a:cs typeface="Arial"/>
            </a:endParaRPr>
          </a:p>
          <a:p>
            <a:pPr>
              <a:spcBef>
                <a:spcPts val="600"/>
              </a:spcBef>
              <a:defRPr sz="14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2. </a:t>
            </a:r>
            <a:r>
              <a:rPr sz="1600" dirty="0" err="1"/>
              <a:t>Реализована</a:t>
            </a:r>
            <a:r>
              <a:rPr sz="1600" dirty="0"/>
              <a:t> </a:t>
            </a:r>
            <a:r>
              <a:rPr sz="1600" dirty="0" err="1"/>
              <a:t>клиент-серверная</a:t>
            </a:r>
            <a:r>
              <a:rPr sz="1600" dirty="0"/>
              <a:t> </a:t>
            </a:r>
            <a:r>
              <a:rPr sz="1600" dirty="0" err="1"/>
              <a:t>архитектура</a:t>
            </a:r>
            <a:r>
              <a:rPr sz="1600" dirty="0"/>
              <a:t> с REST API</a:t>
            </a:r>
            <a:endParaRPr sz="1600" dirty="0">
              <a:cs typeface="Arial"/>
            </a:endParaRPr>
          </a:p>
          <a:p>
            <a:pPr>
              <a:spcBef>
                <a:spcPts val="600"/>
              </a:spcBef>
              <a:defRPr sz="14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3. </a:t>
            </a:r>
            <a:r>
              <a:rPr sz="1600" dirty="0" err="1"/>
              <a:t>Проведено</a:t>
            </a:r>
            <a:r>
              <a:rPr sz="1600" dirty="0"/>
              <a:t> </a:t>
            </a:r>
            <a:r>
              <a:rPr sz="1600" dirty="0" err="1"/>
              <a:t>комплексное</a:t>
            </a:r>
            <a:r>
              <a:rPr sz="1600" dirty="0"/>
              <a:t> </a:t>
            </a:r>
            <a:r>
              <a:rPr sz="1600" dirty="0" err="1"/>
              <a:t>тестирование</a:t>
            </a:r>
            <a:r>
              <a:rPr sz="1600" dirty="0"/>
              <a:t> с </a:t>
            </a:r>
            <a:r>
              <a:rPr sz="1600" dirty="0" err="1"/>
              <a:t>положительными</a:t>
            </a:r>
            <a:r>
              <a:rPr sz="1600" dirty="0"/>
              <a:t> </a:t>
            </a:r>
            <a:r>
              <a:rPr sz="1600" dirty="0" err="1"/>
              <a:t>результатами</a:t>
            </a:r>
            <a:endParaRPr sz="1600" dirty="0" err="1">
              <a:cs typeface="Arial"/>
            </a:endParaRPr>
          </a:p>
          <a:p>
            <a:pPr>
              <a:spcBef>
                <a:spcPts val="600"/>
              </a:spcBef>
              <a:defRPr sz="14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4. </a:t>
            </a:r>
            <a:r>
              <a:rPr sz="1600" dirty="0" err="1"/>
              <a:t>Обеспечена</a:t>
            </a:r>
            <a:r>
              <a:rPr sz="1600" dirty="0"/>
              <a:t> </a:t>
            </a:r>
            <a:r>
              <a:rPr sz="1600" dirty="0" err="1"/>
              <a:t>безопасность</a:t>
            </a:r>
            <a:r>
              <a:rPr sz="1600" dirty="0"/>
              <a:t> (JWT, </a:t>
            </a:r>
            <a:r>
              <a:rPr sz="1600" dirty="0" err="1"/>
              <a:t>bcrypt</a:t>
            </a:r>
            <a:r>
              <a:rPr sz="1600" dirty="0"/>
              <a:t>, </a:t>
            </a:r>
            <a:r>
              <a:rPr sz="1600" dirty="0" err="1"/>
              <a:t>параметризованные</a:t>
            </a:r>
            <a:r>
              <a:rPr sz="1600" dirty="0"/>
              <a:t> </a:t>
            </a:r>
            <a:r>
              <a:rPr sz="1600" dirty="0" err="1"/>
              <a:t>запросы</a:t>
            </a:r>
            <a:r>
              <a:rPr sz="1600" dirty="0"/>
              <a:t>)</a:t>
            </a:r>
            <a:endParaRPr sz="1600" dirty="0">
              <a:cs typeface="Arial"/>
            </a:endParaRPr>
          </a:p>
          <a:p>
            <a:pPr>
              <a:spcBef>
                <a:spcPts val="600"/>
              </a:spcBef>
              <a:defRPr sz="1400">
                <a:solidFill>
                  <a:srgbClr val="1F2937"/>
                </a:solidFill>
                <a:latin typeface="Arial"/>
              </a:defRPr>
            </a:pPr>
            <a:r>
              <a:rPr sz="1600" dirty="0"/>
              <a:t>5. </a:t>
            </a:r>
            <a:r>
              <a:rPr sz="1600" dirty="0" err="1"/>
              <a:t>Создан</a:t>
            </a:r>
            <a:r>
              <a:rPr sz="1600" dirty="0"/>
              <a:t> </a:t>
            </a:r>
            <a:r>
              <a:rPr sz="1600" dirty="0" err="1"/>
              <a:t>адаптивный</a:t>
            </a:r>
            <a:r>
              <a:rPr sz="1600" dirty="0"/>
              <a:t> </a:t>
            </a:r>
            <a:r>
              <a:rPr sz="1600" dirty="0" err="1"/>
              <a:t>интерфейс</a:t>
            </a:r>
            <a:r>
              <a:rPr sz="1600" dirty="0"/>
              <a:t> (mobile-first, WCAG 2.1 AA)</a:t>
            </a:r>
            <a:endParaRPr sz="1600" dirty="0">
              <a:cs typeface="Arial"/>
            </a:endParaRPr>
          </a:p>
          <a:p>
            <a:pPr>
              <a:spcBef>
                <a:spcPts val="600"/>
              </a:spcBef>
              <a:defRPr sz="1400">
                <a:solidFill>
                  <a:srgbClr val="1F2937"/>
                </a:solidFill>
                <a:latin typeface="Arial"/>
              </a:defRPr>
            </a:pPr>
            <a:endParaRPr sz="1600" dirty="0">
              <a:cs typeface="Arial"/>
            </a:endParaRPr>
          </a:p>
          <a:p>
            <a:pPr>
              <a:spcBef>
                <a:spcPts val="600"/>
              </a:spcBef>
              <a:defRPr sz="1500" b="1">
                <a:solidFill>
                  <a:srgbClr val="1E3A8A"/>
                </a:solidFill>
                <a:latin typeface="Arial"/>
              </a:defRPr>
            </a:pPr>
            <a:r>
              <a:rPr sz="1600" dirty="0"/>
              <a:t>💡 Проект </a:t>
            </a:r>
            <a:r>
              <a:rPr sz="1600" dirty="0" err="1"/>
              <a:t>демонстрирует</a:t>
            </a:r>
            <a:r>
              <a:rPr sz="1600" dirty="0"/>
              <a:t> </a:t>
            </a:r>
            <a:r>
              <a:rPr sz="1600" dirty="0" err="1"/>
              <a:t>эффективность</a:t>
            </a:r>
            <a:r>
              <a:rPr sz="1600" dirty="0"/>
              <a:t> open-source </a:t>
            </a:r>
            <a:r>
              <a:rPr sz="1600" dirty="0" err="1"/>
              <a:t>стека</a:t>
            </a:r>
            <a:endParaRPr sz="1600" dirty="0" err="1">
              <a:cs typeface="Arial"/>
            </a:endParaRPr>
          </a:p>
          <a:p>
            <a:pPr>
              <a:spcBef>
                <a:spcPts val="600"/>
              </a:spcBef>
              <a:defRPr sz="1400">
                <a:solidFill>
                  <a:srgbClr val="1F2937"/>
                </a:solidFill>
                <a:latin typeface="Arial"/>
              </a:defRPr>
            </a:pPr>
            <a:r>
              <a:rPr sz="1600" dirty="0" err="1"/>
              <a:t>для</a:t>
            </a:r>
            <a:r>
              <a:rPr sz="1600" dirty="0"/>
              <a:t> </a:t>
            </a:r>
            <a:r>
              <a:rPr sz="1600" dirty="0" err="1"/>
              <a:t>автоматизации</a:t>
            </a:r>
            <a:r>
              <a:rPr sz="1600" dirty="0"/>
              <a:t> </a:t>
            </a:r>
            <a:r>
              <a:rPr sz="1600" dirty="0" err="1"/>
              <a:t>складского</a:t>
            </a:r>
            <a:r>
              <a:rPr sz="1600" dirty="0"/>
              <a:t> </a:t>
            </a:r>
            <a:r>
              <a:rPr sz="1600" dirty="0" err="1"/>
              <a:t>учёта</a:t>
            </a:r>
            <a:endParaRPr sz="1600" dirty="0" err="1"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50742" y="2286000"/>
            <a:ext cx="5442516" cy="58477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>
              <a:defRPr sz="3200">
                <a:solidFill>
                  <a:srgbClr val="FFFFFF"/>
                </a:solidFill>
                <a:latin typeface="Arial Black"/>
              </a:defRPr>
            </a:pPr>
            <a:r>
              <a:rPr err="1"/>
              <a:t>Спасибо</a:t>
            </a:r>
            <a:r>
              <a:rPr dirty="0"/>
              <a:t> </a:t>
            </a:r>
            <a:r>
              <a:rPr err="1"/>
              <a:t>за</a:t>
            </a:r>
            <a:r>
              <a:rPr dirty="0"/>
              <a:t> </a:t>
            </a:r>
            <a:r>
              <a:t>внимание!</a:t>
            </a:r>
            <a:endParaRPr lang="ru-RU"/>
          </a:p>
        </p:txBody>
      </p:sp>
      <p:sp>
        <p:nvSpPr>
          <p:cNvPr id="3" name="TextBox 2"/>
          <p:cNvSpPr txBox="1"/>
          <p:nvPr/>
        </p:nvSpPr>
        <p:spPr>
          <a:xfrm>
            <a:off x="457200" y="4114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A7F3D0"/>
                </a:solidFill>
                <a:latin typeface="Consolas"/>
              </a:defRPr>
            </a:pPr>
            <a:r>
              <a:t>🔗 GitHub: github.com/sazex256/CurseWork_ISIP_42318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Экран (4:3)</PresentationFormat>
  <Paragraphs>0</Paragraphs>
  <Slides>12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3" baseType="lpstr"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99</cp:revision>
  <dcterms:created xsi:type="dcterms:W3CDTF">2013-01-27T09:14:16Z</dcterms:created>
  <dcterms:modified xsi:type="dcterms:W3CDTF">2026-05-26T02:28:31Z</dcterms:modified>
  <cp:category/>
</cp:coreProperties>
</file>