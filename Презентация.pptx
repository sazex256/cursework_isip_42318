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DM Sans Medium" pitchFamily="2" charset="0"/>
      <p:regular r:id="rId21"/>
      <p: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CB9CE8-D156-4C63-BE9D-A6FFB5AD9E97}" v="24" dt="2026-05-26T05:21:5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337DF-93AA-413F-9A77-4E161F8DF268}" type="datetimeFigureOut"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1D120-D5CC-4A39-AA44-9B60B194DCA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0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088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4C8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0880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zex256/CurseWork_ISIP_42318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62074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3943" y="1203350"/>
            <a:ext cx="4717182" cy="2221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СкладПро </a:t>
            </a:r>
            <a:r>
              <a:rPr lang="en-US" sz="4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Учёт товара на складе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473943" y="3543300"/>
            <a:ext cx="4717182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Курсовая работа. Выполнил: Савченко С.В., ИСИП-42318. Руководитель: Денисюк А.В.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4912" y="1191518"/>
            <a:ext cx="364703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4162276"/>
            <a:ext cx="1655787" cy="325785"/>
          </a:xfrm>
          <a:prstGeom prst="rect">
            <a:avLst/>
          </a:prstGeom>
        </p:spPr>
      </p:pic>
      <p:pic>
        <p:nvPicPr>
          <p:cNvPr id="7" name="Рисунок 6" descr="Изображение выглядит как фиолетовый, синий, Цвет электрик, Сирен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0EA1C9-9AD7-798A-FC2C-9E3DC669A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256" y="4371135"/>
            <a:ext cx="18669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85614"/>
            <a:ext cx="794891" cy="202927"/>
          </a:xfrm>
          <a:prstGeom prst="roundRect">
            <a:avLst>
              <a:gd name="adj" fmla="val 37836"/>
            </a:avLst>
          </a:prstGeom>
          <a:noFill/>
          <a:ln w="4763">
            <a:solidFill>
              <a:srgbClr val="2A08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627" y="422300"/>
            <a:ext cx="1114723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650" dirty="0">
                <a:solidFill>
                  <a:srgbClr val="2A08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АКТУАЛЬНОСТЬ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73943" y="626864"/>
            <a:ext cx="7038529" cy="333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Проблемы учёта товаров и обоснование решения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73943" y="1104007"/>
            <a:ext cx="8196114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Ручной учёт товаров на складах приводит к систематическим ошибкам и потерям. Корпоративные WMS-системы решают проблему, но недоступны малому бизнесу из-за высокой стоимости и сложности. Необходим доступный локальный веб-сервис на открытом ПО.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3943" y="1631975"/>
            <a:ext cx="210443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10824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Проблемы ручного учёта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943" y="1894433"/>
            <a:ext cx="3748608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3943" y="2164407"/>
            <a:ext cx="1597744" cy="1138014"/>
          </a:xfrm>
          <a:prstGeom prst="roundRect">
            <a:avLst>
              <a:gd name="adj" fmla="val 8434"/>
            </a:avLst>
          </a:prstGeom>
          <a:solidFill>
            <a:srgbClr val="222222"/>
          </a:solidFill>
          <a:ln w="4763">
            <a:solidFill>
              <a:srgbClr val="3B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341" y="2275805"/>
            <a:ext cx="1374949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Расхождения остатков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341" y="2704802"/>
            <a:ext cx="1374949" cy="48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Ошибки при инвентаризации и списании товаров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67607" y="2164407"/>
            <a:ext cx="1597744" cy="1138014"/>
          </a:xfrm>
          <a:prstGeom prst="roundRect">
            <a:avLst>
              <a:gd name="adj" fmla="val 8434"/>
            </a:avLst>
          </a:prstGeom>
          <a:solidFill>
            <a:srgbClr val="222222"/>
          </a:solidFill>
          <a:ln w="4763">
            <a:solidFill>
              <a:srgbClr val="3B3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9005" y="2275805"/>
            <a:ext cx="1374949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Потери при инвентаризации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79005" y="2704802"/>
            <a:ext cx="1374949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Неконтролируемые недостачи и пересортица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3943" y="3398341"/>
            <a:ext cx="3291408" cy="647328"/>
          </a:xfrm>
          <a:prstGeom prst="roundRect">
            <a:avLst>
              <a:gd name="adj" fmla="val 14826"/>
            </a:avLst>
          </a:prstGeom>
          <a:solidFill>
            <a:srgbClr val="222222"/>
          </a:solidFill>
          <a:ln w="4763">
            <a:solidFill>
              <a:srgbClr val="3B3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341" y="3509739"/>
            <a:ext cx="1738089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Неэффективные операции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341" y="3772198"/>
            <a:ext cx="3068613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Замедление всех складских процессов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3943" y="4153570"/>
            <a:ext cx="3291408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Корпоративные WMS: </a:t>
            </a:r>
            <a:r>
              <a:rPr lang="en-US" sz="8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высокая стоимость лицензий</a:t>
            </a: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сложность поддержки, требуют выделенных серверов.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53470" y="1536055"/>
            <a:ext cx="4798070" cy="3221831"/>
          </a:xfrm>
          <a:prstGeom prst="roundRect">
            <a:avLst>
              <a:gd name="adj" fmla="val 4766"/>
            </a:avLst>
          </a:prstGeom>
          <a:solidFill>
            <a:srgbClr val="2A0880"/>
          </a:solidFill>
          <a:ln/>
        </p:spPr>
      </p:sp>
      <p:sp>
        <p:nvSpPr>
          <p:cNvPr id="19" name="Text 17"/>
          <p:cNvSpPr/>
          <p:nvPr/>
        </p:nvSpPr>
        <p:spPr>
          <a:xfrm>
            <a:off x="4060106" y="1622375"/>
            <a:ext cx="5041999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106" y="1892350"/>
            <a:ext cx="4126260" cy="275763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A699A39-C1FE-16B8-DB1E-926A66420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997" y="4803732"/>
            <a:ext cx="206692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945431"/>
            <a:ext cx="391269" cy="222647"/>
          </a:xfrm>
          <a:prstGeom prst="roundRect">
            <a:avLst>
              <a:gd name="adj" fmla="val 38317"/>
            </a:avLst>
          </a:prstGeom>
          <a:solidFill>
            <a:srgbClr val="180548"/>
          </a:solidFill>
          <a:ln/>
        </p:spPr>
      </p:sp>
      <p:sp>
        <p:nvSpPr>
          <p:cNvPr id="3" name="Text 1"/>
          <p:cNvSpPr/>
          <p:nvPr/>
        </p:nvSpPr>
        <p:spPr>
          <a:xfrm>
            <a:off x="545009" y="980926"/>
            <a:ext cx="706338" cy="151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ЦЕЛЬ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1215405"/>
            <a:ext cx="3679329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Цель и задачи работы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73943" y="1763390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</a:t>
            </a:r>
            <a:r>
              <a:rPr lang="en-US" sz="900" b="1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Цель:</a:t>
            </a: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Проектирование и реализация веб-сервиса для учёта товаров в соответствии с ГОСТ Р ИСО/МЭК 25010-2015.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2124670"/>
            <a:ext cx="118467" cy="11846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3" y="2273275"/>
            <a:ext cx="2653010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3943" y="2361084"/>
            <a:ext cx="2653010" cy="37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Анализ предметной области и требований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73943" y="2802285"/>
            <a:ext cx="2653010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Р ИСО/МЭК 25010-2015 как базовый стандарт качества ПО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5421" y="2124670"/>
            <a:ext cx="118467" cy="11846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421" y="2285107"/>
            <a:ext cx="2653085" cy="142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45421" y="2361084"/>
            <a:ext cx="2653085" cy="37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Обоснование технологического стека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3245421" y="2802285"/>
            <a:ext cx="265308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Выбор Node.js + Express + SQLite + Vanilla JS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972" y="2124670"/>
            <a:ext cx="118467" cy="118467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972" y="2285107"/>
            <a:ext cx="2653010" cy="142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016972" y="2361084"/>
            <a:ext cx="2482528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Проектирование реляционной БД</a:t>
            </a:r>
            <a:endParaRPr lang="en-US" sz="1150" dirty="0"/>
          </a:p>
        </p:txBody>
      </p:sp>
      <p:sp>
        <p:nvSpPr>
          <p:cNvPr id="17" name="Text 9"/>
          <p:cNvSpPr/>
          <p:nvPr/>
        </p:nvSpPr>
        <p:spPr>
          <a:xfrm>
            <a:off x="6016972" y="2617217"/>
            <a:ext cx="2653010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Нормализация до 3NF, обеспечение свойств ACID</a:t>
            </a:r>
            <a:endParaRPr lang="en-US" sz="9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943" y="3403476"/>
            <a:ext cx="118467" cy="118467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943" y="3563913"/>
            <a:ext cx="4038749" cy="1428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73943" y="3663553"/>
            <a:ext cx="3181945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Разработка клиент-серверной архитектуры</a:t>
            </a:r>
            <a:endParaRPr lang="en-US" sz="1150" dirty="0"/>
          </a:p>
        </p:txBody>
      </p:sp>
      <p:sp>
        <p:nvSpPr>
          <p:cNvPr id="21" name="Text 11"/>
          <p:cNvSpPr/>
          <p:nvPr/>
        </p:nvSpPr>
        <p:spPr>
          <a:xfrm>
            <a:off x="473943" y="3919686"/>
            <a:ext cx="4038749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 API, SPA-архитектура фронтенда</a:t>
            </a:r>
            <a:endParaRPr lang="en-US" sz="9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1159" y="3403476"/>
            <a:ext cx="118467" cy="118467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1159" y="3563913"/>
            <a:ext cx="4038823" cy="1428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4631159" y="3663553"/>
            <a:ext cx="2941737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Тестирование и оценка метрик качества</a:t>
            </a:r>
            <a:endParaRPr lang="en-US" sz="1150" dirty="0"/>
          </a:p>
        </p:txBody>
      </p:sp>
      <p:sp>
        <p:nvSpPr>
          <p:cNvPr id="25" name="Text 13"/>
          <p:cNvSpPr/>
          <p:nvPr/>
        </p:nvSpPr>
        <p:spPr>
          <a:xfrm>
            <a:off x="4631159" y="3919686"/>
            <a:ext cx="4038823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Функциональное тестирование всех CRUD-сценариев</a:t>
            </a:r>
            <a:endParaRPr lang="en-US" sz="900" dirty="0"/>
          </a:p>
        </p:txBody>
      </p:sp>
      <p:pic>
        <p:nvPicPr>
          <p:cNvPr id="26" name="Рисунок 25" descr="Изображение выглядит как черный, темнот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540154-7840-F6C2-2363-C45E9602B1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8287" y="4524701"/>
            <a:ext cx="1762125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20439"/>
            <a:ext cx="736922" cy="207838"/>
          </a:xfrm>
          <a:prstGeom prst="roundRect">
            <a:avLst>
              <a:gd name="adj" fmla="val 38994"/>
            </a:avLst>
          </a:prstGeom>
          <a:solidFill>
            <a:srgbClr val="180548"/>
          </a:solidFill>
          <a:ln/>
        </p:spPr>
      </p:sp>
      <p:sp>
        <p:nvSpPr>
          <p:cNvPr id="3" name="Text 1"/>
          <p:cNvSpPr/>
          <p:nvPr/>
        </p:nvSpPr>
        <p:spPr>
          <a:xfrm>
            <a:off x="541437" y="454149"/>
            <a:ext cx="1059135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АРХИТЕКТУРА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670992"/>
            <a:ext cx="7627069" cy="351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Архитектура системы: Frontend, Backend &amp; Database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3943" y="1183109"/>
            <a:ext cx="8196114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Система реализована в виде трёхуровневой клиент-серверной архитектуры. Каждый уровень независим и взаимодействует через строго определённые интерфейсы — REST API.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3943" y="1750814"/>
            <a:ext cx="441796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6" y="2032397"/>
            <a:ext cx="28575" cy="6625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5032" y="2046684"/>
            <a:ext cx="140702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🖥️</a:t>
            </a: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5032" y="2329458"/>
            <a:ext cx="3819674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HTML5, CSS3, Vanilla JS. Fetch API, архитектура SPA — адаптивный интерфейс без дополнительных фреймворков.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6" y="2880271"/>
            <a:ext cx="28575" cy="6625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5032" y="2894558"/>
            <a:ext cx="208456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⚙️</a:t>
            </a: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Backend (Node.js + Express)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5032" y="3177332"/>
            <a:ext cx="3819674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 API на Node.js с Express. JWT-аутентификация, bcrypt-хеширование, middleware-слой для защиты маршрутов.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6" y="3728145"/>
            <a:ext cx="28575" cy="6625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5032" y="3742432"/>
            <a:ext cx="1424508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💾</a:t>
            </a: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Database (SQLite)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5032" y="4025205"/>
            <a:ext cx="3819674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SQLite в режиме WAL — полное соответствие ACID, минимальные требования к инфраструктуре, нулевая конфигурация.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633020" y="1654597"/>
            <a:ext cx="4122837" cy="3068389"/>
          </a:xfrm>
          <a:prstGeom prst="roundRect">
            <a:avLst>
              <a:gd name="adj" fmla="val 5283"/>
            </a:avLst>
          </a:prstGeom>
          <a:solidFill>
            <a:srgbClr val="2A0880"/>
          </a:solidFill>
          <a:ln/>
        </p:spPr>
      </p:sp>
      <p:sp>
        <p:nvSpPr>
          <p:cNvPr id="17" name="Text 12"/>
          <p:cNvSpPr/>
          <p:nvPr/>
        </p:nvSpPr>
        <p:spPr>
          <a:xfrm>
            <a:off x="4745534" y="1761530"/>
            <a:ext cx="359739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 API — взаимодействие уровней системы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745534" y="2044303"/>
            <a:ext cx="4355009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745534" y="2340173"/>
            <a:ext cx="3897809" cy="1805583"/>
          </a:xfrm>
          <a:prstGeom prst="roundRect">
            <a:avLst>
              <a:gd name="adj" fmla="val 5611"/>
            </a:avLst>
          </a:prstGeom>
          <a:solidFill>
            <a:srgbClr val="37158D"/>
          </a:solidFill>
          <a:ln/>
        </p:spPr>
      </p:sp>
      <p:sp>
        <p:nvSpPr>
          <p:cNvPr id="20" name="Shape 15"/>
          <p:cNvSpPr/>
          <p:nvPr/>
        </p:nvSpPr>
        <p:spPr>
          <a:xfrm>
            <a:off x="4739953" y="2340173"/>
            <a:ext cx="3908971" cy="1805583"/>
          </a:xfrm>
          <a:prstGeom prst="roundRect">
            <a:avLst>
              <a:gd name="adj" fmla="val 935"/>
            </a:avLst>
          </a:prstGeom>
          <a:solidFill>
            <a:srgbClr val="37158D"/>
          </a:solidFill>
          <a:ln/>
        </p:spPr>
      </p:sp>
      <p:sp>
        <p:nvSpPr>
          <p:cNvPr id="21" name="Text 16"/>
          <p:cNvSpPr/>
          <p:nvPr/>
        </p:nvSpPr>
        <p:spPr>
          <a:xfrm>
            <a:off x="4880595" y="2452688"/>
            <a:ext cx="3627686" cy="1580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Пример маршрутов REST API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/api/products       // список товаров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/api/products       // создать товар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 /api/products/:id   // обновить товар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/api/products/:id   // удалить товар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/api/activities     // журнал операций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/api/auth/login     // вход в систему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/api/auth/register  // регистрация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745534" y="4266009"/>
            <a:ext cx="3897809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Все маршруты товаров защищены middleware </a:t>
            </a:r>
            <a:r>
              <a:rPr lang="en-US" sz="850" dirty="0">
                <a:solidFill>
                  <a:srgbClr val="F8F8F8"/>
                </a:solidFill>
                <a:highlight>
                  <a:srgbClr val="37158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</a:t>
            </a: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Незащищённые только </a:t>
            </a:r>
            <a:r>
              <a:rPr lang="en-US" sz="850" dirty="0">
                <a:solidFill>
                  <a:srgbClr val="F8F8F8"/>
                </a:solidFill>
                <a:highlight>
                  <a:srgbClr val="37158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/auth/*</a:t>
            </a: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85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2BDD658-3EA0-7768-E386-62DE1EEEC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990" y="4803732"/>
            <a:ext cx="215265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77069"/>
            <a:ext cx="519559" cy="127397"/>
          </a:xfrm>
          <a:prstGeom prst="roundRect">
            <a:avLst>
              <a:gd name="adj" fmla="val 43527"/>
            </a:avLst>
          </a:prstGeom>
          <a:solidFill>
            <a:srgbClr val="180548"/>
          </a:solidFill>
          <a:ln/>
        </p:spPr>
      </p:sp>
      <p:sp>
        <p:nvSpPr>
          <p:cNvPr id="3" name="Text 1"/>
          <p:cNvSpPr/>
          <p:nvPr/>
        </p:nvSpPr>
        <p:spPr>
          <a:xfrm>
            <a:off x="520080" y="500137"/>
            <a:ext cx="884486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БАЗА ДАННЫХ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73943" y="624483"/>
            <a:ext cx="3691830" cy="24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Модель данных: структура и связи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3943" y="940147"/>
            <a:ext cx="8653314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Реляционная база данных спроектирована в третьей нормальной форме (3NF). Все связи реализованы через FOREIGN KEY с поддержкой ON DELETE CASCADE для целостности данных.</a:t>
            </a:r>
            <a:endParaRPr lang="en-US" sz="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604" y="1098054"/>
            <a:ext cx="5296719" cy="2631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31878" y="1839785"/>
            <a:ext cx="1655866" cy="1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Связи 1→N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31878" y="2830765"/>
            <a:ext cx="1655866" cy="1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Активности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56151" y="2830765"/>
            <a:ext cx="1198666" cy="1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Продукты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56651" y="1837204"/>
            <a:ext cx="1198666" cy="1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Пользователи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8505" y="3785443"/>
            <a:ext cx="2689696" cy="468660"/>
          </a:xfrm>
          <a:prstGeom prst="roundRect">
            <a:avLst>
              <a:gd name="adj" fmla="val 23664"/>
            </a:avLst>
          </a:prstGeom>
          <a:solidFill>
            <a:srgbClr val="2A0880"/>
          </a:solidFill>
          <a:ln/>
        </p:spPr>
      </p:sp>
      <p:sp>
        <p:nvSpPr>
          <p:cNvPr id="12" name="Text 9"/>
          <p:cNvSpPr/>
          <p:nvPr/>
        </p:nvSpPr>
        <p:spPr>
          <a:xfrm>
            <a:off x="495449" y="3835450"/>
            <a:ext cx="1419895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👤</a:t>
            </a:r>
            <a:r>
              <a:rPr lang="en-US" sz="75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Users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5449" y="4005783"/>
            <a:ext cx="2535808" cy="203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F8F8F8"/>
                </a:solidFill>
                <a:highlight>
                  <a:srgbClr val="37158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email, password, created_at</a:t>
            </a:r>
            <a:r>
              <a:rPr lang="en-US" sz="6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аккаунты пользователей системы.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3189908" y="3785443"/>
            <a:ext cx="2689696" cy="468660"/>
          </a:xfrm>
          <a:prstGeom prst="roundRect">
            <a:avLst>
              <a:gd name="adj" fmla="val 23664"/>
            </a:avLst>
          </a:prstGeom>
          <a:solidFill>
            <a:srgbClr val="5416FF"/>
          </a:solidFill>
          <a:ln/>
        </p:spPr>
      </p:sp>
      <p:sp>
        <p:nvSpPr>
          <p:cNvPr id="15" name="Text 12"/>
          <p:cNvSpPr/>
          <p:nvPr/>
        </p:nvSpPr>
        <p:spPr>
          <a:xfrm>
            <a:off x="3266852" y="3835450"/>
            <a:ext cx="1419895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📦</a:t>
            </a:r>
            <a:r>
              <a:rPr lang="en-US" sz="7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Products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266852" y="4005783"/>
            <a:ext cx="2535808" cy="203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F8F8F8"/>
                </a:solidFill>
                <a:highlight>
                  <a:srgbClr val="6123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name, category, quantity, price, cell</a:t>
            </a:r>
            <a:r>
              <a:rPr lang="en-US" sz="6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товарные позиции склада.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5961311" y="3785443"/>
            <a:ext cx="2773561" cy="468660"/>
          </a:xfrm>
          <a:prstGeom prst="roundRect">
            <a:avLst>
              <a:gd name="adj" fmla="val 23664"/>
            </a:avLst>
          </a:prstGeom>
          <a:solidFill>
            <a:srgbClr val="7135E5"/>
          </a:solidFill>
          <a:ln/>
        </p:spPr>
      </p:sp>
      <p:sp>
        <p:nvSpPr>
          <p:cNvPr id="18" name="Text 15"/>
          <p:cNvSpPr/>
          <p:nvPr/>
        </p:nvSpPr>
        <p:spPr>
          <a:xfrm>
            <a:off x="6038255" y="3835450"/>
            <a:ext cx="1419895" cy="120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📝</a:t>
            </a:r>
            <a:r>
              <a:rPr lang="en-US" sz="7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Activities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038255" y="4005783"/>
            <a:ext cx="3076873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FFFFFF"/>
                </a:solidFill>
                <a:highlight>
                  <a:srgbClr val="7E4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text, type, created_at</a:t>
            </a: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журнал всех CRUD-операций.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473943" y="4310360"/>
            <a:ext cx="8196114" cy="355997"/>
          </a:xfrm>
          <a:prstGeom prst="roundRect">
            <a:avLst>
              <a:gd name="adj" fmla="val 19471"/>
            </a:avLst>
          </a:prstGeom>
          <a:solidFill>
            <a:srgbClr val="18054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87" y="4415358"/>
            <a:ext cx="96217" cy="769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4049" y="4379565"/>
            <a:ext cx="7869064" cy="203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Нормализация:</a:t>
            </a: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схема соответствует </a:t>
            </a: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3NF</a:t>
            </a: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нет транзитивных зависимостей. Связи </a:t>
            </a: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1→N</a:t>
            </a: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через FOREIGN KEY, ON DELETE CASCADE обеспечивает каскадное удаление. ACID-транзакции гарантируют целостность данных при одновременных операциях.</a:t>
            </a:r>
            <a:endParaRPr lang="en-US" sz="6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E9A9B85-120D-B24E-BBE9-13730867C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365" y="4773787"/>
            <a:ext cx="1724025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34863"/>
            <a:ext cx="885602" cy="222647"/>
          </a:xfrm>
          <a:prstGeom prst="roundRect">
            <a:avLst>
              <a:gd name="adj" fmla="val 38317"/>
            </a:avLst>
          </a:prstGeom>
          <a:solidFill>
            <a:srgbClr val="180548"/>
          </a:solidFill>
          <a:ln/>
        </p:spPr>
      </p:sp>
      <p:sp>
        <p:nvSpPr>
          <p:cNvPr id="3" name="Text 1"/>
          <p:cNvSpPr/>
          <p:nvPr/>
        </p:nvSpPr>
        <p:spPr>
          <a:xfrm>
            <a:off x="545009" y="370359"/>
            <a:ext cx="1200671" cy="151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БЕЗОПАСНОСТЬ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604838"/>
            <a:ext cx="718252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Безопасность и аутентификация: JWT + bcrypt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73943" y="1271290"/>
            <a:ext cx="3722638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Middleware аутентификации — authenticate()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3943" y="1574825"/>
            <a:ext cx="4834979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3943" y="1897633"/>
            <a:ext cx="4377779" cy="2777654"/>
          </a:xfrm>
          <a:prstGeom prst="roundRect">
            <a:avLst>
              <a:gd name="adj" fmla="val 3839"/>
            </a:avLst>
          </a:prstGeom>
          <a:solidFill>
            <a:srgbClr val="222222"/>
          </a:solidFill>
          <a:ln w="4763">
            <a:solidFill>
              <a:srgbClr val="3B3B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8706" y="1902396"/>
            <a:ext cx="4368254" cy="924297"/>
          </a:xfrm>
          <a:prstGeom prst="roundRect">
            <a:avLst>
              <a:gd name="adj" fmla="val 11537"/>
            </a:avLst>
          </a:prstGeom>
          <a:solidFill>
            <a:srgbClr val="222222"/>
          </a:solidFill>
          <a:ln/>
        </p:spPr>
      </p:sp>
      <p:sp>
        <p:nvSpPr>
          <p:cNvPr id="9" name="Text 7"/>
          <p:cNvSpPr/>
          <p:nvPr/>
        </p:nvSpPr>
        <p:spPr>
          <a:xfrm>
            <a:off x="597173" y="2020863"/>
            <a:ext cx="1481063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🔐</a:t>
            </a:r>
            <a:r>
              <a:rPr lang="en-US" sz="115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JWT + bcrypt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7173" y="2324398"/>
            <a:ext cx="413132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Хеширование паролей (cost=10), stateless-сессии на 7 дней, middleware </a:t>
            </a:r>
            <a:r>
              <a:rPr lang="en-US" sz="900" dirty="0">
                <a:solidFill>
                  <a:srgbClr val="F8F8F8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</a:t>
            </a: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на всех защищённых маршрутах.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8706" y="2826693"/>
            <a:ext cx="4368254" cy="91953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8706" y="2826693"/>
            <a:ext cx="4368254" cy="14288"/>
          </a:xfrm>
          <a:prstGeom prst="roundRect">
            <a:avLst>
              <a:gd name="adj" fmla="val 746350"/>
            </a:avLst>
          </a:prstGeom>
          <a:solidFill>
            <a:srgbClr val="3B3B3B"/>
          </a:solidFill>
          <a:ln/>
        </p:spPr>
      </p:sp>
      <p:sp>
        <p:nvSpPr>
          <p:cNvPr id="13" name="Text 11"/>
          <p:cNvSpPr/>
          <p:nvPr/>
        </p:nvSpPr>
        <p:spPr>
          <a:xfrm>
            <a:off x="597173" y="2945160"/>
            <a:ext cx="1481063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🛡️</a:t>
            </a:r>
            <a:r>
              <a:rPr lang="en-US" sz="115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Защита от атак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7173" y="3248695"/>
            <a:ext cx="4131320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SQL-инъекции (параметризованные запросы), XSS, CSRF, brute-force — комплексная защита периметра.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8706" y="3746227"/>
            <a:ext cx="4368254" cy="924297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8706" y="3746227"/>
            <a:ext cx="4368254" cy="14288"/>
          </a:xfrm>
          <a:prstGeom prst="roundRect">
            <a:avLst>
              <a:gd name="adj" fmla="val 746350"/>
            </a:avLst>
          </a:prstGeom>
          <a:solidFill>
            <a:srgbClr val="3B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597173" y="3864694"/>
            <a:ext cx="1481063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📜</a:t>
            </a:r>
            <a:r>
              <a:rPr lang="en-US" sz="115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Журнал аудита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7173" y="4168229"/>
            <a:ext cx="413132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Таблица Activities фиксирует все операции: </a:t>
            </a:r>
            <a:r>
              <a:rPr lang="en-US" sz="900" dirty="0">
                <a:solidFill>
                  <a:srgbClr val="F8F8F8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type, timestamp</a:t>
            </a: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соответствие ФЗ-152.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60231" y="1152823"/>
            <a:ext cx="3699793" cy="3655740"/>
          </a:xfrm>
          <a:prstGeom prst="roundRect">
            <a:avLst>
              <a:gd name="adj" fmla="val 4667"/>
            </a:avLst>
          </a:prstGeom>
          <a:solidFill>
            <a:srgbClr val="2A0880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698" y="1286098"/>
            <a:ext cx="3462858" cy="26274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78698" y="4046786"/>
            <a:ext cx="3462858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Комплексный стек безопасности: </a:t>
            </a:r>
            <a:r>
              <a:rPr lang="en-US" sz="900" b="1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уровень защиты вырастает с 10% до 96%</a:t>
            </a: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при применении всех слоёв.</a:t>
            </a:r>
            <a:endParaRPr lang="en-US" sz="9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FB3AE6F-6328-EAB6-2C21-389387857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287" y="4825847"/>
            <a:ext cx="176212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9512"/>
            <a:ext cx="6788795" cy="351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Результаты тестирования и метрики качества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3943" y="945133"/>
            <a:ext cx="8196114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Проведено комплексное тестирование — функциональное (все CRUD-сценарии пройдены) и нагрузочное. Все показатели соответствуют требованиям ГОСТ Р ИСО/МЭК 25010-2015.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74700" y="1472878"/>
            <a:ext cx="3829645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5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120–180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741066" y="1821507"/>
            <a:ext cx="149691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мс загрузка страницы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3943" y="2061493"/>
            <a:ext cx="403123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Время первоначальной загрузки SPA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39580" y="1472878"/>
            <a:ext cx="3829645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45–90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950893" y="1906414"/>
            <a:ext cx="140702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мс отклик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8824" y="2146399"/>
            <a:ext cx="403123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Время ответа REST API на запросы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4700" y="2592139"/>
            <a:ext cx="382964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~65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1745084" y="3100015"/>
            <a:ext cx="148895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МБ потребление RAM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943" y="3340001"/>
            <a:ext cx="403123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Минимальный расход памяти сервера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39580" y="2592139"/>
            <a:ext cx="382964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~450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5530602" y="3100015"/>
            <a:ext cx="2247677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req/sec пропускная способность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8824" y="3340001"/>
            <a:ext cx="403123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Нагрузочное тестирование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3943" y="3756124"/>
            <a:ext cx="1926878" cy="887611"/>
          </a:xfrm>
          <a:prstGeom prst="roundRect">
            <a:avLst>
              <a:gd name="adj" fmla="val 11413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0745" y="3882926"/>
            <a:ext cx="140702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Maintainability Index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0745" y="4165699"/>
            <a:ext cx="1673275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82/100 ✓</a:t>
            </a: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высокая сопровождаемость кода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07754" y="3756124"/>
            <a:ext cx="1926952" cy="887611"/>
          </a:xfrm>
          <a:prstGeom prst="roundRect">
            <a:avLst>
              <a:gd name="adj" fmla="val 11413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4555" y="3882926"/>
            <a:ext cx="1549226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Cyclomatic Complexity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34555" y="4165699"/>
            <a:ext cx="1673349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4.2 ✓</a:t>
            </a:r>
            <a:r>
              <a:rPr lang="en-US" sz="85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низкая цикломатическая сложность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14056" y="3756124"/>
            <a:ext cx="3960763" cy="814388"/>
          </a:xfrm>
          <a:prstGeom prst="roundRect">
            <a:avLst>
              <a:gd name="adj" fmla="val 12440"/>
            </a:avLst>
          </a:prstGeom>
          <a:solidFill>
            <a:srgbClr val="183A13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571" y="3922142"/>
            <a:ext cx="140643" cy="11251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79727" y="3891186"/>
            <a:ext cx="3482578" cy="526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r>
              <a:rPr lang="en-US" sz="8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Функциональное тестирование:</a:t>
            </a:r>
            <a:r>
              <a:rPr lang="en-US" sz="8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CRUD-операции, авторизация, фильтрация товаров — все сценарии пройдены успешно. DRY принцип соблюдён.</a:t>
            </a:r>
            <a:endParaRPr lang="en-US" sz="85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78A6B97-9684-7741-3B29-375FAB590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225" y="4696543"/>
            <a:ext cx="17907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50702"/>
            <a:ext cx="492234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Интерфейс системы: СкладПро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3943" y="1457920"/>
            <a:ext cx="8196114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Реализован адаптивный интерфейс по принципу mobile-first. Соответствует стандарту WCAG 2.1 AA: контраст ≥4.5:1, клавиатурная навигация, ARIA-атрибуты.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2313756"/>
            <a:ext cx="177701" cy="1777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0111" y="2318965"/>
            <a:ext cx="1849115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📱</a:t>
            </a:r>
            <a:r>
              <a:rPr lang="en-US" sz="1150" b="1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Мобильный (&lt;768px)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70111" y="2575099"/>
            <a:ext cx="2337122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Одна колонка, гамбургер-меню, карточки товаров — полная функциональность на смартфоне.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5318" y="2313756"/>
            <a:ext cx="177701" cy="1777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51486" y="2318965"/>
            <a:ext cx="1963787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💻</a:t>
            </a:r>
            <a:r>
              <a:rPr lang="en-US" sz="1150" b="1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Планшет (768–1024px)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551486" y="2575099"/>
            <a:ext cx="2337122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Двухколоночный макет с боковым меню — оптимальное использование экранного пространства.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6692" y="2313756"/>
            <a:ext cx="177701" cy="1777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32860" y="2318965"/>
            <a:ext cx="1613446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🖥️</a:t>
            </a:r>
            <a:r>
              <a:rPr lang="en-US" sz="1150" b="1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Десктоп (&gt;1024px)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332860" y="2575099"/>
            <a:ext cx="2337197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Полная панель управления, расширенные фильтры, таблицы — весь функционал без ограничений.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73943" y="3276972"/>
            <a:ext cx="865331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73943" y="3599780"/>
            <a:ext cx="8196114" cy="693018"/>
          </a:xfrm>
          <a:prstGeom prst="roundRect">
            <a:avLst>
              <a:gd name="adj" fmla="val 15388"/>
            </a:avLst>
          </a:prstGeom>
          <a:solidFill>
            <a:srgbClr val="180548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10" y="3777555"/>
            <a:ext cx="148084" cy="11846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8962" y="3747864"/>
            <a:ext cx="7692628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♿</a:t>
            </a: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Доступность (WCAG 2.1 AA):</a:t>
            </a: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контраст ≥4.5:1, полная клавиатурная навигация, ARIA-атрибуты для скринридеров. </a:t>
            </a: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Интерфейс доступен для пользователей с ограниченными возможностями.</a:t>
            </a:r>
            <a:endParaRPr lang="en-US" sz="9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7C467F0-CB19-8470-E365-0C668D7093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3887" y="4791140"/>
            <a:ext cx="1514475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9135" y="430113"/>
            <a:ext cx="604614" cy="213345"/>
          </a:xfrm>
          <a:prstGeom prst="roundRect">
            <a:avLst>
              <a:gd name="adj" fmla="val 38738"/>
            </a:avLst>
          </a:prstGeom>
          <a:solidFill>
            <a:srgbClr val="180548"/>
          </a:solidFill>
          <a:ln/>
        </p:spPr>
      </p:sp>
      <p:sp>
        <p:nvSpPr>
          <p:cNvPr id="3" name="Text 1"/>
          <p:cNvSpPr/>
          <p:nvPr/>
        </p:nvSpPr>
        <p:spPr>
          <a:xfrm>
            <a:off x="527968" y="464493"/>
            <a:ext cx="924148" cy="14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7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РАЗВИТИЕ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9135" y="687884"/>
            <a:ext cx="7682731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Практическая значимость и перспективы развития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9135" y="1213321"/>
            <a:ext cx="8225730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Система готова к развёртыванию в локальной сети малого склада. Отсутствие лицензий и минимальные требования к железу обеспечивают низкий TCO. Заложена архитектура для масштабирования.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9135" y="1811238"/>
            <a:ext cx="3025825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✅</a:t>
            </a:r>
            <a:r>
              <a:rPr lang="en-US" sz="110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Практическая значимость сейчас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9135" y="2115666"/>
            <a:ext cx="1930822" cy="1270397"/>
          </a:xfrm>
          <a:prstGeom prst="roundRect">
            <a:avLst>
              <a:gd name="adj" fmla="val 5398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47" y="2115666"/>
            <a:ext cx="57150" cy="12703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1031" y="2244700"/>
            <a:ext cx="1629891" cy="358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Готов к развёртыванию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1031" y="2714551"/>
            <a:ext cx="1629891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 локальной сети малого склада — без дополнительных настроек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01131" y="2115666"/>
            <a:ext cx="1930896" cy="1270397"/>
          </a:xfrm>
          <a:prstGeom prst="roundRect">
            <a:avLst>
              <a:gd name="adj" fmla="val 5398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844" y="2115666"/>
            <a:ext cx="57150" cy="127039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3028" y="2244700"/>
            <a:ext cx="1434778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Низкая TCO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73028" y="2535213"/>
            <a:ext cx="1629966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Отсутствие лицензий, минимальные требования к оборудованию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9135" y="3497238"/>
            <a:ext cx="1930822" cy="1089571"/>
          </a:xfrm>
          <a:prstGeom prst="roundRect">
            <a:avLst>
              <a:gd name="adj" fmla="val 6294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47" y="3497238"/>
            <a:ext cx="57150" cy="10895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031" y="3626272"/>
            <a:ext cx="1629891" cy="358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Соответствие стандартам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1031" y="4096122"/>
            <a:ext cx="1629891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Р ИСО/МЭК 25010-2015 и ФЗ-152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501131" y="3497238"/>
            <a:ext cx="1930896" cy="1089571"/>
          </a:xfrm>
          <a:prstGeom prst="roundRect">
            <a:avLst>
              <a:gd name="adj" fmla="val 6294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844" y="3497238"/>
            <a:ext cx="57150" cy="10895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673028" y="3626272"/>
            <a:ext cx="1629966" cy="358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Образовательная ценность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2673028" y="4096122"/>
            <a:ext cx="1629966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Учебные материалы для направления 09.02.07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716735" y="1811238"/>
            <a:ext cx="2947318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🔜</a:t>
            </a:r>
            <a:r>
              <a:rPr lang="en-US" sz="110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Перспективы масштабирования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16735" y="2115666"/>
            <a:ext cx="1930822" cy="1270397"/>
          </a:xfrm>
          <a:prstGeom prst="roundRect">
            <a:avLst>
              <a:gd name="adj" fmla="val 5398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448" y="2115666"/>
            <a:ext cx="57150" cy="127039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88632" y="2244700"/>
            <a:ext cx="1629891" cy="358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Миграция на PostgreSQL/MVCC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888632" y="2714551"/>
            <a:ext cx="1629891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Поддержка высоких нагрузок и конкурентного доступа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758732" y="2115666"/>
            <a:ext cx="1930896" cy="1270397"/>
          </a:xfrm>
          <a:prstGeom prst="roundRect">
            <a:avLst>
              <a:gd name="adj" fmla="val 5398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444" y="2115666"/>
            <a:ext cx="57150" cy="127039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30628" y="2244700"/>
            <a:ext cx="1434778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RBAC-роли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930628" y="2535213"/>
            <a:ext cx="1629966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Администратор, менеджер, кладовщик — разграничение прав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716735" y="3497238"/>
            <a:ext cx="1930822" cy="1091059"/>
          </a:xfrm>
          <a:prstGeom prst="roundRect">
            <a:avLst>
              <a:gd name="adj" fmla="val 6286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448" y="3497238"/>
            <a:ext cx="57150" cy="1091059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888632" y="3626272"/>
            <a:ext cx="1629891" cy="358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Интеграции: ТСД, 1С/ERP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4888632" y="4096122"/>
            <a:ext cx="1629891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Сканеры штрихкодов, терминалы сбора данных, 1С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6758732" y="3497238"/>
            <a:ext cx="1930896" cy="1091059"/>
          </a:xfrm>
          <a:prstGeom prst="roundRect">
            <a:avLst>
              <a:gd name="adj" fmla="val 6286"/>
            </a:avLst>
          </a:prstGeom>
          <a:solidFill>
            <a:srgbClr val="030303"/>
          </a:solidFill>
          <a:ln w="14288">
            <a:solidFill>
              <a:srgbClr val="3B3B3B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444" y="3497238"/>
            <a:ext cx="57150" cy="1091059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30628" y="3626272"/>
            <a:ext cx="1533525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DevOps: CI/CD, Docker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6930628" y="3916784"/>
            <a:ext cx="1629966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Prometheus + Grafana, мобильное приложение (React Native/Flutter)</a:t>
            </a:r>
            <a:endParaRPr lang="en-US" sz="900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BDB0B5A3-782D-E4AC-905F-4589B19E6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48" y="4683951"/>
            <a:ext cx="20288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502" y="381893"/>
            <a:ext cx="3081486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D4C8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Выводы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66502" y="895871"/>
            <a:ext cx="8668196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🏁</a:t>
            </a:r>
            <a:r>
              <a:rPr lang="en-US" sz="800" b="1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Цель достигнута:</a:t>
            </a:r>
            <a:r>
              <a:rPr lang="en-US" sz="8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спроектирован и реализован работоспособный веб-сервис учёта товаров на складе.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66502" y="1158776"/>
            <a:ext cx="236116" cy="236116"/>
          </a:xfrm>
          <a:prstGeom prst="roundRect">
            <a:avLst>
              <a:gd name="adj" fmla="val 40012"/>
            </a:avLst>
          </a:prstGeom>
          <a:solidFill>
            <a:srgbClr val="222222"/>
          </a:solidFill>
          <a:ln w="4763">
            <a:solidFill>
              <a:srgbClr val="3B3B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5830" y="1178421"/>
            <a:ext cx="157386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61" y="1194792"/>
            <a:ext cx="2158975" cy="16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Обоснован технологический стек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61" y="1414463"/>
            <a:ext cx="7881938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 + Express + SQLite + Vanilla JS — эффективный open-source стек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502" y="1758776"/>
            <a:ext cx="236116" cy="236116"/>
          </a:xfrm>
          <a:prstGeom prst="roundRect">
            <a:avLst>
              <a:gd name="adj" fmla="val 40012"/>
            </a:avLst>
          </a:prstGeom>
          <a:solidFill>
            <a:srgbClr val="222222"/>
          </a:solidFill>
          <a:ln w="4763">
            <a:solidFill>
              <a:srgbClr val="3B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5830" y="1778422"/>
            <a:ext cx="157386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61" y="1794793"/>
            <a:ext cx="2878485" cy="16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Реализована клиент-серверная архитектура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61" y="2014463"/>
            <a:ext cx="7881938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 API, SPA-фронтенд, трёхуровневая модель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502" y="2358777"/>
            <a:ext cx="236116" cy="236116"/>
          </a:xfrm>
          <a:prstGeom prst="roundRect">
            <a:avLst>
              <a:gd name="adj" fmla="val 40012"/>
            </a:avLst>
          </a:prstGeom>
          <a:solidFill>
            <a:srgbClr val="222222"/>
          </a:solidFill>
          <a:ln w="4763">
            <a:solidFill>
              <a:srgbClr val="3B3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830" y="2378422"/>
            <a:ext cx="157386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61" y="2394793"/>
            <a:ext cx="2512070" cy="16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Проведено комплексное тестирование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61" y="2614464"/>
            <a:ext cx="7881938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Все CRUD-сценарии пройдены, метрики качества соответствуют норме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502" y="2958778"/>
            <a:ext cx="236116" cy="236116"/>
          </a:xfrm>
          <a:prstGeom prst="roundRect">
            <a:avLst>
              <a:gd name="adj" fmla="val 40012"/>
            </a:avLst>
          </a:prstGeom>
          <a:solidFill>
            <a:srgbClr val="222222"/>
          </a:solidFill>
          <a:ln w="4763">
            <a:solidFill>
              <a:srgbClr val="3B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830" y="2978423"/>
            <a:ext cx="157386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61" y="2994794"/>
            <a:ext cx="1689497" cy="16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Обеспечена безопасность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61" y="3214464"/>
            <a:ext cx="7881938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JWT, bcrypt, параметризованные запросы, журнал аудита (ФЗ-152)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502" y="3558778"/>
            <a:ext cx="236116" cy="236116"/>
          </a:xfrm>
          <a:prstGeom prst="roundRect">
            <a:avLst>
              <a:gd name="adj" fmla="val 40012"/>
            </a:avLst>
          </a:prstGeom>
          <a:solidFill>
            <a:srgbClr val="222222"/>
          </a:solidFill>
          <a:ln w="4763">
            <a:solidFill>
              <a:srgbClr val="3B3B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830" y="3578423"/>
            <a:ext cx="157386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61" y="3594795"/>
            <a:ext cx="2009626" cy="16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8F8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Создан адаптивный интерфейс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61" y="3814465"/>
            <a:ext cx="7881938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Mobile-first, WCAG 2.1 AA — доступен на любом устройстве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502" y="4077370"/>
            <a:ext cx="8210996" cy="684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</a:t>
            </a:r>
            <a:r>
              <a:rPr lang="en-US" sz="8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800" b="1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Проект демонстрирует эффективность open-source стека для автоматизации складского учёта</a:t>
            </a:r>
            <a:endParaRPr lang="en-US" sz="800" dirty="0"/>
          </a:p>
          <a:p>
            <a:pPr marL="0" indent="0" algn="ctr">
              <a:lnSpc>
                <a:spcPct val="12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🔗</a:t>
            </a:r>
            <a:r>
              <a:rPr lang="en-US" sz="800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GitHub: </a:t>
            </a:r>
            <a:r>
              <a:rPr lang="en-US" sz="800" u="sng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github.com/sazex256/CurseWork_ISIP_42318</a:t>
            </a:r>
            <a:endParaRPr lang="en-US" sz="800" dirty="0"/>
          </a:p>
          <a:p>
            <a:pPr marL="0" indent="0" algn="ctr">
              <a:lnSpc>
                <a:spcPct val="126000"/>
              </a:lnSpc>
              <a:buNone/>
            </a:pPr>
            <a:r>
              <a:rPr lang="en-US" sz="800" b="1" dirty="0">
                <a:solidFill>
                  <a:srgbClr val="F8F8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Спасибо за внимание!</a:t>
            </a:r>
            <a:endParaRPr lang="en-US" sz="800" dirty="0"/>
          </a:p>
        </p:txBody>
      </p:sp>
      <p:pic>
        <p:nvPicPr>
          <p:cNvPr id="25" name="Рисунок 24" descr="Изображение выглядит как фиолетовый, синий, Цвет электрик, Сирен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83B069-072F-9985-6905-0EC3EE660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025" y="4636653"/>
            <a:ext cx="1447800" cy="504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22</cp:revision>
  <dcterms:created xsi:type="dcterms:W3CDTF">2026-05-26T02:56:01Z</dcterms:created>
  <dcterms:modified xsi:type="dcterms:W3CDTF">2026-05-26T05:22:07Z</dcterms:modified>
</cp:coreProperties>
</file>